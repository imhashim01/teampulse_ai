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TeamPulse AI, the group number and both members with semesters. The dashboard on the right is a product mockup with illustrative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team leads managing 4 to 10 people at small software houses, university project groups, startups. Problem: people hesitate to say they're stuck, so status reports look fine until the deadline. No statistics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only flags potential risks from stored evidence. It never claims someone is lying, and the lead approves every message before it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API keys stay on the server and that the app keeps working if Gemini or WhatsApp is down. Remove Claude Code if you prefer not to list development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presenting, remove anything from Works today that is not working in your build. Then switch to the live app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judges and invite questions. The product walkthrough video is on the next slide if you want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video plays automatically. It uses illustrative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AF9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046720" cy="685800"/>
          </a:xfrm>
          <a:prstGeom prst="rect">
            <a:avLst/>
          </a:prstGeom>
          <a:noFill/>
          <a:ln/>
        </p:spPr>
        <p:txBody>
          <a:bodyPr wrap="square" rtlCol="0"/>
          <a:lstStyle>
            <a:lvl1pPr algn="l" indent="0" marL="0">
              <a:buNone/>
              <a:defRPr lang="en-US" sz="2800" b="1" dirty="0">
                <a:solidFill>
                  <a:srgbClr val="1F2328"/>
                </a:solidFill>
              </a:defRPr>
            </a:lvl1pPr>
          </a:lstStyle>
          <a:p>
            <a:pPr algn="l" indent="0" marL="0">
              <a:buNone/>
            </a:pPr>
            <a:endParaRPr lang="en-US" sz="2800" dirty="0"/>
          </a:p>
        </p:txBody>
      </p:sp>
      <p:sp>
        <p:nvSpPr>
          <p:cNvPr id="3" name="Text 0"/>
          <p:cNvSpPr/>
          <p:nvPr/>
        </p:nvSpPr>
        <p:spPr>
          <a:xfrm>
            <a:off x="548640" y="4736592"/>
            <a:ext cx="2743200" cy="228600"/>
          </a:xfrm>
          <a:prstGeom prst="rect">
            <a:avLst/>
          </a:prstGeom>
          <a:noFill/>
          <a:ln/>
        </p:spPr>
        <p:txBody>
          <a:bodyPr wrap="square" lIns="0" tIns="0" rIns="0" bIns="0" rtlCol="0" anchor="ctr"/>
          <a:lstStyle/>
          <a:p>
            <a:pPr indent="0" marL="0">
              <a:buNone/>
            </a:pPr>
            <a:r>
              <a:rPr lang="en-US" sz="1000" dirty="0">
                <a:solidFill>
                  <a:srgbClr val="6B7280"/>
                </a:solidFill>
              </a:rPr>
              <a:t>TeamPulse AI</a:t>
            </a:r>
            <a:endParaRPr lang="en-US" sz="1000" dirty="0"/>
          </a:p>
        </p:txBody>
      </p:sp>
      <p:sp>
        <p:nvSpPr>
          <p:cNvPr id="25"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_BG">
    <p:bg>
      <p:bgPr>
        <a:solidFill>
          <a:srgbClr val="FAF9F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eamPulse AI logo">    </p:cNvPr>
          <p:cNvPicPr>
            <a:picLocks noChangeAspect="1"/>
          </p:cNvPicPr>
          <p:nvPr/>
        </p:nvPicPr>
        <p:blipFill>
          <a:blip r:embed="rId1"/>
          <a:stretch>
            <a:fillRect/>
          </a:stretch>
        </p:blipFill>
        <p:spPr>
          <a:xfrm>
            <a:off x="548640" y="502920"/>
            <a:ext cx="274320" cy="274320"/>
          </a:xfrm>
          <a:prstGeom prst="rect">
            <a:avLst/>
          </a:prstGeom>
        </p:spPr>
      </p:pic>
      <p:sp>
        <p:nvSpPr>
          <p:cNvPr id="3" name="Text 0"/>
          <p:cNvSpPr txBox="1"/>
          <p:nvPr/>
        </p:nvSpPr>
        <p:spPr>
          <a:xfrm>
            <a:off x="914400" y="502920"/>
            <a:ext cx="2743200" cy="274320"/>
          </a:xfrm>
          <a:prstGeom prst="rect">
            <a:avLst/>
          </a:prstGeom>
          <a:noFill/>
          <a:ln/>
        </p:spPr>
        <p:txBody>
          <a:bodyPr wrap="square" lIns="0" tIns="0" rIns="0" bIns="0" rtlCol="0" anchor="ctr"/>
          <a:lstStyle/>
          <a:p>
            <a:pPr indent="0" marL="0">
              <a:buNone/>
            </a:pPr>
            <a:r>
              <a:rPr lang="en-US" sz="1300" b="1" dirty="0">
                <a:solidFill>
                  <a:srgbClr val="1F2328"/>
                </a:solidFill>
              </a:rPr>
              <a:t>TeamPulse AI</a:t>
            </a:r>
            <a:endParaRPr lang="en-US" sz="1300" dirty="0"/>
          </a:p>
        </p:txBody>
      </p:sp>
      <p:sp>
        <p:nvSpPr>
          <p:cNvPr id="4" name="Text 1"/>
          <p:cNvSpPr txBox="1"/>
          <p:nvPr/>
        </p:nvSpPr>
        <p:spPr>
          <a:xfrm>
            <a:off x="548640" y="1097280"/>
            <a:ext cx="4572000" cy="731520"/>
          </a:xfrm>
          <a:prstGeom prst="rect">
            <a:avLst/>
          </a:prstGeom>
          <a:noFill/>
          <a:ln/>
        </p:spPr>
        <p:txBody>
          <a:bodyPr wrap="square" lIns="0" tIns="0" rIns="0" bIns="0" rtlCol="0" anchor="ctr"/>
          <a:lstStyle/>
          <a:p>
            <a:pPr indent="0" marL="0">
              <a:buNone/>
            </a:pPr>
            <a:r>
              <a:rPr lang="en-US" sz="4200" b="1" dirty="0">
                <a:solidFill>
                  <a:srgbClr val="1F2328"/>
                </a:solidFill>
              </a:rPr>
              <a:t>TeamPulse AI</a:t>
            </a:r>
            <a:endParaRPr lang="en-US" sz="4200" dirty="0"/>
          </a:p>
        </p:txBody>
      </p:sp>
      <p:sp>
        <p:nvSpPr>
          <p:cNvPr id="5" name="Text 2"/>
          <p:cNvSpPr txBox="1"/>
          <p:nvPr/>
        </p:nvSpPr>
        <p:spPr>
          <a:xfrm>
            <a:off x="548640" y="1828800"/>
            <a:ext cx="4572000" cy="365760"/>
          </a:xfrm>
          <a:prstGeom prst="rect">
            <a:avLst/>
          </a:prstGeom>
          <a:noFill/>
          <a:ln/>
        </p:spPr>
        <p:txBody>
          <a:bodyPr wrap="square" lIns="0" tIns="0" rIns="0" bIns="0" rtlCol="0" anchor="t"/>
          <a:lstStyle/>
          <a:p>
            <a:pPr indent="0" marL="0">
              <a:buNone/>
            </a:pPr>
            <a:r>
              <a:rPr lang="en-US" sz="1800" i="1" dirty="0">
                <a:solidFill>
                  <a:srgbClr val="5B4FCF"/>
                </a:solidFill>
              </a:rPr>
              <a:t>See risks earlier. Keep teams moving.</a:t>
            </a:r>
            <a:endParaRPr lang="en-US" sz="1800" dirty="0"/>
          </a:p>
        </p:txBody>
      </p:sp>
      <p:sp>
        <p:nvSpPr>
          <p:cNvPr id="6" name="Text 3"/>
          <p:cNvSpPr txBox="1"/>
          <p:nvPr/>
        </p:nvSpPr>
        <p:spPr>
          <a:xfrm>
            <a:off x="548640" y="2240280"/>
            <a:ext cx="4206240" cy="457200"/>
          </a:xfrm>
          <a:prstGeom prst="rect">
            <a:avLst/>
          </a:prstGeom>
          <a:noFill/>
          <a:ln/>
        </p:spPr>
        <p:txBody>
          <a:bodyPr wrap="square" lIns="0" tIns="0" rIns="0" bIns="0" rtlCol="0" anchor="t"/>
          <a:lstStyle/>
          <a:p>
            <a:pPr indent="0" marL="0">
              <a:buNone/>
            </a:pPr>
            <a:r>
              <a:rPr lang="en-US" sz="1300" dirty="0">
                <a:solidFill>
                  <a:srgbClr val="6B7280"/>
                </a:solidFill>
              </a:rPr>
              <a:t>An AI-powered web app for team task management and early risk detection</a:t>
            </a:r>
            <a:endParaRPr lang="en-US" sz="1300" dirty="0"/>
          </a:p>
        </p:txBody>
      </p:sp>
      <p:sp>
        <p:nvSpPr>
          <p:cNvPr id="7" name="Shape 4"/>
          <p:cNvSpPr/>
          <p:nvPr/>
        </p:nvSpPr>
        <p:spPr>
          <a:xfrm>
            <a:off x="548640" y="2926080"/>
            <a:ext cx="1371600" cy="256032"/>
          </a:xfrm>
          <a:prstGeom prst="roundRect">
            <a:avLst>
              <a:gd name="adj" fmla="val 50000"/>
            </a:avLst>
          </a:prstGeom>
          <a:solidFill>
            <a:srgbClr val="EEEDFB"/>
          </a:solidFill>
          <a:ln w="12700">
            <a:solidFill>
              <a:srgbClr val="EEEDFB"/>
            </a:solidFill>
            <a:prstDash val="solid"/>
          </a:ln>
        </p:spPr>
      </p:sp>
      <p:sp>
        <p:nvSpPr>
          <p:cNvPr id="8" name="Text 5"/>
          <p:cNvSpPr txBox="1"/>
          <p:nvPr/>
        </p:nvSpPr>
        <p:spPr>
          <a:xfrm>
            <a:off x="548640" y="2926080"/>
            <a:ext cx="1371600" cy="256032"/>
          </a:xfrm>
          <a:prstGeom prst="rect">
            <a:avLst/>
          </a:prstGeom>
          <a:noFill/>
          <a:ln/>
        </p:spPr>
        <p:txBody>
          <a:bodyPr wrap="square" lIns="0" tIns="0" rIns="0" bIns="0" rtlCol="0" anchor="ctr"/>
          <a:lstStyle/>
          <a:p>
            <a:pPr algn="ctr" indent="0" marL="0">
              <a:buNone/>
            </a:pPr>
            <a:r>
              <a:rPr lang="en-US" sz="1000" b="1" dirty="0">
                <a:solidFill>
                  <a:srgbClr val="5B4FCF"/>
                </a:solidFill>
              </a:rPr>
              <a:t>GROUP NO. ___</a:t>
            </a:r>
            <a:endParaRPr lang="en-US" sz="1000" dirty="0"/>
          </a:p>
        </p:txBody>
      </p:sp>
      <p:sp>
        <p:nvSpPr>
          <p:cNvPr id="9" name="Text 6"/>
          <p:cNvSpPr txBox="1"/>
          <p:nvPr/>
        </p:nvSpPr>
        <p:spPr>
          <a:xfrm>
            <a:off x="548640" y="3310128"/>
            <a:ext cx="4114800" cy="1097280"/>
          </a:xfrm>
          <a:prstGeom prst="rect">
            <a:avLst/>
          </a:prstGeom>
          <a:noFill/>
          <a:ln/>
        </p:spPr>
        <p:txBody>
          <a:bodyPr wrap="square" lIns="0" tIns="0" rIns="0" bIns="0" rtlCol="0" anchor="t"/>
          <a:lstStyle/>
          <a:p>
            <a:pPr indent="0" marL="0">
              <a:buNone/>
            </a:pPr>
            <a:r>
              <a:rPr lang="en-US" sz="1400" b="1" dirty="0">
                <a:solidFill>
                  <a:srgbClr val="1F2328"/>
                </a:solidFill>
              </a:rPr>
              <a:t>Muhammad Hashim</a:t>
            </a:r>
            <a:endParaRPr lang="en-US" sz="1400" dirty="0"/>
          </a:p>
          <a:p>
            <a:pPr indent="0" marL="0">
              <a:buNone/>
            </a:pPr>
            <a:r>
              <a:rPr lang="en-US" sz="1200" dirty="0">
                <a:solidFill>
                  <a:srgbClr val="6B7280"/>
                </a:solidFill>
              </a:rPr>
              <a:t>BS Computer Science · Semester ___</a:t>
            </a:r>
            <a:endParaRPr lang="en-US" sz="1400" dirty="0"/>
          </a:p>
          <a:p>
            <a:pPr indent="0" marL="0">
              <a:buNone/>
            </a:pPr>
            <a:r>
              <a:rPr lang="en-US" sz="600" dirty="0">
                <a:solidFill>
                  <a:srgbClr val="1F2328"/>
                </a:solidFill>
              </a:rPr>
              <a:t> </a:t>
            </a:r>
            <a:endParaRPr lang="en-US" sz="1400" dirty="0"/>
          </a:p>
          <a:p>
            <a:pPr indent="0" marL="0">
              <a:buNone/>
            </a:pPr>
            <a:r>
              <a:rPr lang="en-US" sz="1400" b="1" dirty="0">
                <a:solidFill>
                  <a:srgbClr val="1F2328"/>
                </a:solidFill>
              </a:rPr>
              <a:t>Muhammad Saffi Ullah</a:t>
            </a:r>
            <a:endParaRPr lang="en-US" sz="1400" dirty="0"/>
          </a:p>
          <a:p>
            <a:pPr indent="0" marL="0">
              <a:buNone/>
            </a:pPr>
            <a:r>
              <a:rPr lang="en-US" sz="1200" dirty="0">
                <a:solidFill>
                  <a:srgbClr val="6B7280"/>
                </a:solidFill>
              </a:rPr>
              <a:t>BS Computer Science · Semester ___</a:t>
            </a:r>
            <a:endParaRPr lang="en-US" sz="1400" dirty="0"/>
          </a:p>
        </p:txBody>
      </p:sp>
      <p:sp>
        <p:nvSpPr>
          <p:cNvPr id="10" name="Text 7"/>
          <p:cNvSpPr txBox="1"/>
          <p:nvPr/>
        </p:nvSpPr>
        <p:spPr>
          <a:xfrm>
            <a:off x="548640" y="4526280"/>
            <a:ext cx="4572000" cy="228600"/>
          </a:xfrm>
          <a:prstGeom prst="rect">
            <a:avLst/>
          </a:prstGeom>
          <a:noFill/>
          <a:ln/>
        </p:spPr>
        <p:txBody>
          <a:bodyPr wrap="square" lIns="0" tIns="0" rIns="0" bIns="0" rtlCol="0" anchor="t"/>
          <a:lstStyle/>
          <a:p>
            <a:pPr indent="0" marL="0">
              <a:buNone/>
            </a:pPr>
            <a:r>
              <a:rPr lang="en-US" sz="1000" dirty="0">
                <a:solidFill>
                  <a:srgbClr val="6B7280"/>
                </a:solidFill>
              </a:rPr>
              <a:t>Department of Computer Science · University of Chenab</a:t>
            </a:r>
            <a:endParaRPr lang="en-US" sz="1000" dirty="0"/>
          </a:p>
        </p:txBody>
      </p:sp>
      <p:sp>
        <p:nvSpPr>
          <p:cNvPr id="11" name="Shape 8"/>
          <p:cNvSpPr/>
          <p:nvPr/>
        </p:nvSpPr>
        <p:spPr>
          <a:xfrm>
            <a:off x="5212080" y="822960"/>
            <a:ext cx="3383280" cy="3520440"/>
          </a:xfrm>
          <a:prstGeom prst="roundRect">
            <a:avLst>
              <a:gd name="adj" fmla="val 2162"/>
            </a:avLst>
          </a:prstGeom>
          <a:solidFill>
            <a:srgbClr val="FFFFFF"/>
          </a:solidFill>
          <a:ln w="9525">
            <a:solidFill>
              <a:srgbClr val="E5E7EB"/>
            </a:solidFill>
            <a:prstDash val="solid"/>
          </a:ln>
          <a:effectLst>
            <a:outerShdw sx="100000" sy="100000" kx="0" ky="0" algn="bl" rotWithShape="0" blurRad="101600" dist="25400" dir="5400000">
              <a:srgbClr val="1F2328">
                <a:alpha val="6000"/>
              </a:srgbClr>
            </a:outerShdw>
          </a:effectLst>
        </p:spPr>
      </p:sp>
      <p:sp>
        <p:nvSpPr>
          <p:cNvPr id="12" name="Text 9"/>
          <p:cNvSpPr txBox="1"/>
          <p:nvPr/>
        </p:nvSpPr>
        <p:spPr>
          <a:xfrm>
            <a:off x="5440680" y="1005840"/>
            <a:ext cx="2926080" cy="274320"/>
          </a:xfrm>
          <a:prstGeom prst="rect">
            <a:avLst/>
          </a:prstGeom>
          <a:noFill/>
          <a:ln/>
        </p:spPr>
        <p:txBody>
          <a:bodyPr wrap="square" lIns="0" tIns="0" rIns="0" bIns="0" rtlCol="0" anchor="t"/>
          <a:lstStyle/>
          <a:p>
            <a:pPr indent="0" marL="0">
              <a:buNone/>
            </a:pPr>
            <a:r>
              <a:rPr lang="en-US" sz="1300" b="1" dirty="0">
                <a:solidFill>
                  <a:srgbClr val="1F2328"/>
                </a:solidFill>
              </a:rPr>
              <a:t>Client Website Redesign</a:t>
            </a:r>
            <a:endParaRPr lang="en-US" sz="1300" dirty="0"/>
          </a:p>
        </p:txBody>
      </p:sp>
      <p:sp>
        <p:nvSpPr>
          <p:cNvPr id="13" name="Text 10"/>
          <p:cNvSpPr txBox="1"/>
          <p:nvPr/>
        </p:nvSpPr>
        <p:spPr>
          <a:xfrm>
            <a:off x="5440680" y="1280160"/>
            <a:ext cx="2926080" cy="201168"/>
          </a:xfrm>
          <a:prstGeom prst="rect">
            <a:avLst/>
          </a:prstGeom>
          <a:noFill/>
          <a:ln/>
        </p:spPr>
        <p:txBody>
          <a:bodyPr wrap="square" lIns="0" tIns="0" rIns="0" bIns="0" rtlCol="0" anchor="t"/>
          <a:lstStyle/>
          <a:p>
            <a:pPr indent="0" marL="0">
              <a:buNone/>
            </a:pPr>
            <a:r>
              <a:rPr lang="en-US" sz="1000" dirty="0">
                <a:solidFill>
                  <a:srgbClr val="6B7280"/>
                </a:solidFill>
              </a:rPr>
              <a:t>4 tasks · 5 members</a:t>
            </a:r>
            <a:endParaRPr lang="en-US" sz="1000" dirty="0"/>
          </a:p>
        </p:txBody>
      </p:sp>
      <p:sp>
        <p:nvSpPr>
          <p:cNvPr id="14" name="Shape 11"/>
          <p:cNvSpPr/>
          <p:nvPr/>
        </p:nvSpPr>
        <p:spPr>
          <a:xfrm>
            <a:off x="5440680" y="1591056"/>
            <a:ext cx="2926080" cy="0"/>
          </a:xfrm>
          <a:prstGeom prst="line">
            <a:avLst/>
          </a:prstGeom>
          <a:noFill/>
          <a:ln w="9525">
            <a:solidFill>
              <a:srgbClr val="E5E7EB"/>
            </a:solidFill>
            <a:prstDash val="solid"/>
          </a:ln>
        </p:spPr>
      </p:sp>
      <p:sp>
        <p:nvSpPr>
          <p:cNvPr id="15" name="Text 12"/>
          <p:cNvSpPr txBox="1"/>
          <p:nvPr/>
        </p:nvSpPr>
        <p:spPr>
          <a:xfrm>
            <a:off x="5440680" y="1645920"/>
            <a:ext cx="1554480" cy="274320"/>
          </a:xfrm>
          <a:prstGeom prst="rect">
            <a:avLst/>
          </a:prstGeom>
          <a:noFill/>
          <a:ln/>
        </p:spPr>
        <p:txBody>
          <a:bodyPr wrap="square" lIns="0" tIns="0" rIns="0" bIns="0" rtlCol="0" anchor="ctr"/>
          <a:lstStyle/>
          <a:p>
            <a:pPr indent="0" marL="0">
              <a:buNone/>
            </a:pPr>
            <a:r>
              <a:rPr lang="en-US" sz="1100" dirty="0">
                <a:solidFill>
                  <a:srgbClr val="1F2328"/>
                </a:solidFill>
              </a:rPr>
              <a:t>Homepage redesign</a:t>
            </a:r>
            <a:endParaRPr lang="en-US" sz="1100" dirty="0"/>
          </a:p>
        </p:txBody>
      </p:sp>
      <p:sp>
        <p:nvSpPr>
          <p:cNvPr id="16" name="Shape 13"/>
          <p:cNvSpPr/>
          <p:nvPr/>
        </p:nvSpPr>
        <p:spPr>
          <a:xfrm>
            <a:off x="7178040" y="1655064"/>
            <a:ext cx="1188720" cy="256032"/>
          </a:xfrm>
          <a:prstGeom prst="roundRect">
            <a:avLst>
              <a:gd name="adj" fmla="val 50000"/>
            </a:avLst>
          </a:prstGeom>
          <a:solidFill>
            <a:srgbClr val="E3F4EC"/>
          </a:solidFill>
          <a:ln w="12700">
            <a:solidFill>
              <a:srgbClr val="E3F4EC"/>
            </a:solidFill>
            <a:prstDash val="solid"/>
          </a:ln>
        </p:spPr>
      </p:sp>
      <p:sp>
        <p:nvSpPr>
          <p:cNvPr id="17" name="Text 14"/>
          <p:cNvSpPr txBox="1"/>
          <p:nvPr/>
        </p:nvSpPr>
        <p:spPr>
          <a:xfrm>
            <a:off x="7178040" y="1655064"/>
            <a:ext cx="1188720" cy="256032"/>
          </a:xfrm>
          <a:prstGeom prst="rect">
            <a:avLst/>
          </a:prstGeom>
          <a:noFill/>
          <a:ln/>
        </p:spPr>
        <p:txBody>
          <a:bodyPr wrap="square" lIns="0" tIns="0" rIns="0" bIns="0" rtlCol="0" anchor="ctr"/>
          <a:lstStyle/>
          <a:p>
            <a:pPr algn="ctr" indent="0" marL="0">
              <a:buNone/>
            </a:pPr>
            <a:r>
              <a:rPr lang="en-US" sz="1000" b="1" dirty="0">
                <a:solidFill>
                  <a:srgbClr val="1F8A5B"/>
                </a:solidFill>
              </a:rPr>
              <a:t>Submitted</a:t>
            </a:r>
            <a:endParaRPr lang="en-US" sz="1000" dirty="0"/>
          </a:p>
        </p:txBody>
      </p:sp>
      <p:sp>
        <p:nvSpPr>
          <p:cNvPr id="18" name="Shape 15"/>
          <p:cNvSpPr/>
          <p:nvPr/>
        </p:nvSpPr>
        <p:spPr>
          <a:xfrm>
            <a:off x="5440680" y="2002536"/>
            <a:ext cx="2926080" cy="0"/>
          </a:xfrm>
          <a:prstGeom prst="line">
            <a:avLst/>
          </a:prstGeom>
          <a:noFill/>
          <a:ln w="9525">
            <a:solidFill>
              <a:srgbClr val="E5E7EB"/>
            </a:solidFill>
            <a:prstDash val="solid"/>
          </a:ln>
        </p:spPr>
      </p:sp>
      <p:sp>
        <p:nvSpPr>
          <p:cNvPr id="19" name="Text 16"/>
          <p:cNvSpPr txBox="1"/>
          <p:nvPr/>
        </p:nvSpPr>
        <p:spPr>
          <a:xfrm>
            <a:off x="5440680" y="2057400"/>
            <a:ext cx="1554480" cy="274320"/>
          </a:xfrm>
          <a:prstGeom prst="rect">
            <a:avLst/>
          </a:prstGeom>
          <a:noFill/>
          <a:ln/>
        </p:spPr>
        <p:txBody>
          <a:bodyPr wrap="square" lIns="0" tIns="0" rIns="0" bIns="0" rtlCol="0" anchor="ctr"/>
          <a:lstStyle/>
          <a:p>
            <a:pPr indent="0" marL="0">
              <a:buNone/>
            </a:pPr>
            <a:r>
              <a:rPr lang="en-US" sz="1100" dirty="0">
                <a:solidFill>
                  <a:srgbClr val="1F2328"/>
                </a:solidFill>
              </a:rPr>
              <a:t>Payment integration</a:t>
            </a:r>
            <a:endParaRPr lang="en-US" sz="1100" dirty="0"/>
          </a:p>
        </p:txBody>
      </p:sp>
      <p:sp>
        <p:nvSpPr>
          <p:cNvPr id="20" name="Shape 17"/>
          <p:cNvSpPr/>
          <p:nvPr/>
        </p:nvSpPr>
        <p:spPr>
          <a:xfrm>
            <a:off x="7178040" y="2066544"/>
            <a:ext cx="1188720" cy="256032"/>
          </a:xfrm>
          <a:prstGeom prst="roundRect">
            <a:avLst>
              <a:gd name="adj" fmla="val 50000"/>
            </a:avLst>
          </a:prstGeom>
          <a:solidFill>
            <a:srgbClr val="FBF1DF"/>
          </a:solidFill>
          <a:ln w="12700">
            <a:solidFill>
              <a:srgbClr val="FBF1DF"/>
            </a:solidFill>
            <a:prstDash val="solid"/>
          </a:ln>
        </p:spPr>
      </p:sp>
      <p:sp>
        <p:nvSpPr>
          <p:cNvPr id="21" name="Text 18"/>
          <p:cNvSpPr txBox="1"/>
          <p:nvPr/>
        </p:nvSpPr>
        <p:spPr>
          <a:xfrm>
            <a:off x="7178040" y="2066544"/>
            <a:ext cx="1188720" cy="256032"/>
          </a:xfrm>
          <a:prstGeom prst="rect">
            <a:avLst/>
          </a:prstGeom>
          <a:noFill/>
          <a:ln/>
        </p:spPr>
        <p:txBody>
          <a:bodyPr wrap="square" lIns="0" tIns="0" rIns="0" bIns="0" rtlCol="0" anchor="ctr"/>
          <a:lstStyle/>
          <a:p>
            <a:pPr algn="ctr" indent="0" marL="0">
              <a:buNone/>
            </a:pPr>
            <a:r>
              <a:rPr lang="en-US" sz="1000" b="1" dirty="0">
                <a:solidFill>
                  <a:srgbClr val="8A5A12"/>
                </a:solidFill>
              </a:rPr>
              <a:t>Needs check-in</a:t>
            </a:r>
            <a:endParaRPr lang="en-US" sz="1000" dirty="0"/>
          </a:p>
        </p:txBody>
      </p:sp>
      <p:sp>
        <p:nvSpPr>
          <p:cNvPr id="22" name="Shape 19"/>
          <p:cNvSpPr/>
          <p:nvPr/>
        </p:nvSpPr>
        <p:spPr>
          <a:xfrm>
            <a:off x="5440680" y="2414016"/>
            <a:ext cx="2926080" cy="0"/>
          </a:xfrm>
          <a:prstGeom prst="line">
            <a:avLst/>
          </a:prstGeom>
          <a:noFill/>
          <a:ln w="9525">
            <a:solidFill>
              <a:srgbClr val="E5E7EB"/>
            </a:solidFill>
            <a:prstDash val="solid"/>
          </a:ln>
        </p:spPr>
      </p:sp>
      <p:sp>
        <p:nvSpPr>
          <p:cNvPr id="23" name="Text 20"/>
          <p:cNvSpPr txBox="1"/>
          <p:nvPr/>
        </p:nvSpPr>
        <p:spPr>
          <a:xfrm>
            <a:off x="5440680" y="2468880"/>
            <a:ext cx="1554480" cy="274320"/>
          </a:xfrm>
          <a:prstGeom prst="rect">
            <a:avLst/>
          </a:prstGeom>
          <a:noFill/>
          <a:ln/>
        </p:spPr>
        <p:txBody>
          <a:bodyPr wrap="square" lIns="0" tIns="0" rIns="0" bIns="0" rtlCol="0" anchor="ctr"/>
          <a:lstStyle/>
          <a:p>
            <a:pPr indent="0" marL="0">
              <a:buNone/>
            </a:pPr>
            <a:r>
              <a:rPr lang="en-US" sz="1100" dirty="0">
                <a:solidFill>
                  <a:srgbClr val="1F2328"/>
                </a:solidFill>
              </a:rPr>
              <a:t>Mobile checkout UI</a:t>
            </a:r>
            <a:endParaRPr lang="en-US" sz="1100" dirty="0"/>
          </a:p>
        </p:txBody>
      </p:sp>
      <p:sp>
        <p:nvSpPr>
          <p:cNvPr id="24" name="Shape 21"/>
          <p:cNvSpPr/>
          <p:nvPr/>
        </p:nvSpPr>
        <p:spPr>
          <a:xfrm>
            <a:off x="7178040" y="2478024"/>
            <a:ext cx="1188720" cy="256032"/>
          </a:xfrm>
          <a:prstGeom prst="roundRect">
            <a:avLst>
              <a:gd name="adj" fmla="val 50000"/>
            </a:avLst>
          </a:prstGeom>
          <a:solidFill>
            <a:srgbClr val="EEEDFB"/>
          </a:solidFill>
          <a:ln w="12700">
            <a:solidFill>
              <a:srgbClr val="EEEDFB"/>
            </a:solidFill>
            <a:prstDash val="solid"/>
          </a:ln>
        </p:spPr>
      </p:sp>
      <p:sp>
        <p:nvSpPr>
          <p:cNvPr id="25" name="Text 22"/>
          <p:cNvSpPr txBox="1"/>
          <p:nvPr/>
        </p:nvSpPr>
        <p:spPr>
          <a:xfrm>
            <a:off x="7178040" y="2478024"/>
            <a:ext cx="1188720" cy="256032"/>
          </a:xfrm>
          <a:prstGeom prst="rect">
            <a:avLst/>
          </a:prstGeom>
          <a:noFill/>
          <a:ln/>
        </p:spPr>
        <p:txBody>
          <a:bodyPr wrap="square" lIns="0" tIns="0" rIns="0" bIns="0" rtlCol="0" anchor="ctr"/>
          <a:lstStyle/>
          <a:p>
            <a:pPr algn="ctr" indent="0" marL="0">
              <a:buNone/>
            </a:pPr>
            <a:r>
              <a:rPr lang="en-US" sz="1000" b="1" dirty="0">
                <a:solidFill>
                  <a:srgbClr val="5B4FCF"/>
                </a:solidFill>
              </a:rPr>
              <a:t>In progress</a:t>
            </a:r>
            <a:endParaRPr lang="en-US" sz="1000" dirty="0"/>
          </a:p>
        </p:txBody>
      </p:sp>
      <p:sp>
        <p:nvSpPr>
          <p:cNvPr id="26" name="Shape 23"/>
          <p:cNvSpPr/>
          <p:nvPr/>
        </p:nvSpPr>
        <p:spPr>
          <a:xfrm>
            <a:off x="5440680" y="2971800"/>
            <a:ext cx="2926080" cy="1143000"/>
          </a:xfrm>
          <a:prstGeom prst="roundRect">
            <a:avLst>
              <a:gd name="adj" fmla="val 6400"/>
            </a:avLst>
          </a:prstGeom>
          <a:solidFill>
            <a:srgbClr val="FBF1DF"/>
          </a:solidFill>
          <a:ln w="9525">
            <a:solidFill>
              <a:srgbClr val="F1DFB5"/>
            </a:solidFill>
            <a:prstDash val="solid"/>
          </a:ln>
        </p:spPr>
      </p:sp>
      <p:sp>
        <p:nvSpPr>
          <p:cNvPr id="27" name="Text 24"/>
          <p:cNvSpPr txBox="1"/>
          <p:nvPr/>
        </p:nvSpPr>
        <p:spPr>
          <a:xfrm>
            <a:off x="5577840" y="3090672"/>
            <a:ext cx="2697480" cy="256032"/>
          </a:xfrm>
          <a:prstGeom prst="rect">
            <a:avLst/>
          </a:prstGeom>
          <a:noFill/>
          <a:ln/>
        </p:spPr>
        <p:txBody>
          <a:bodyPr wrap="square" lIns="0" tIns="0" rIns="0" bIns="0" rtlCol="0" anchor="t"/>
          <a:lstStyle/>
          <a:p>
            <a:pPr indent="0" marL="0">
              <a:buNone/>
            </a:pPr>
            <a:r>
              <a:rPr lang="en-US" sz="1200" b="1" dirty="0">
                <a:solidFill>
                  <a:srgbClr val="8A5A12"/>
                </a:solidFill>
              </a:rPr>
              <a:t>Potential deadline risk detected</a:t>
            </a:r>
            <a:endParaRPr lang="en-US" sz="1200" dirty="0"/>
          </a:p>
        </p:txBody>
      </p:sp>
      <p:sp>
        <p:nvSpPr>
          <p:cNvPr id="28" name="Text 25"/>
          <p:cNvSpPr txBox="1"/>
          <p:nvPr/>
        </p:nvSpPr>
        <p:spPr>
          <a:xfrm>
            <a:off x="5577840" y="3364992"/>
            <a:ext cx="2697480" cy="365760"/>
          </a:xfrm>
          <a:prstGeom prst="rect">
            <a:avLst/>
          </a:prstGeom>
          <a:noFill/>
          <a:ln/>
        </p:spPr>
        <p:txBody>
          <a:bodyPr wrap="square" lIns="0" tIns="0" rIns="0" bIns="0" rtlCol="0" anchor="t"/>
          <a:lstStyle/>
          <a:p>
            <a:pPr indent="0" marL="0">
              <a:buNone/>
            </a:pPr>
            <a:r>
              <a:rPr lang="en-US" sz="1000" dirty="0">
                <a:solidFill>
                  <a:srgbClr val="1F2328"/>
                </a:solidFill>
              </a:rPr>
              <a:t>90% reported · no update in 3 days · deadline Fri</a:t>
            </a:r>
            <a:endParaRPr lang="en-US" sz="1000" dirty="0"/>
          </a:p>
        </p:txBody>
      </p:sp>
      <p:sp>
        <p:nvSpPr>
          <p:cNvPr id="29" name="Text 26"/>
          <p:cNvSpPr txBox="1"/>
          <p:nvPr/>
        </p:nvSpPr>
        <p:spPr>
          <a:xfrm>
            <a:off x="5577840" y="3749040"/>
            <a:ext cx="2697480" cy="228600"/>
          </a:xfrm>
          <a:prstGeom prst="rect">
            <a:avLst/>
          </a:prstGeom>
          <a:noFill/>
          <a:ln/>
        </p:spPr>
        <p:txBody>
          <a:bodyPr wrap="square" lIns="0" tIns="0" rIns="0" bIns="0" rtlCol="0" anchor="t"/>
          <a:lstStyle/>
          <a:p>
            <a:pPr indent="0" marL="0">
              <a:buNone/>
            </a:pPr>
            <a:r>
              <a:rPr lang="en-US" sz="1000" dirty="0">
                <a:solidFill>
                  <a:srgbClr val="6B7280"/>
                </a:solidFill>
              </a:rPr>
              <a:t>Next: check for blockers, offer support</a:t>
            </a:r>
            <a:endParaRPr lang="en-US" sz="1000" dirty="0"/>
          </a:p>
        </p:txBody>
      </p:sp>
      <p:sp>
        <p:nvSpPr>
          <p:cNvPr id="30" name="Text 27"/>
          <p:cNvSpPr txBox="1"/>
          <p:nvPr/>
        </p:nvSpPr>
        <p:spPr>
          <a:xfrm>
            <a:off x="5212080" y="4434840"/>
            <a:ext cx="3383280" cy="201168"/>
          </a:xfrm>
          <a:prstGeom prst="rect">
            <a:avLst/>
          </a:prstGeom>
          <a:noFill/>
          <a:ln/>
        </p:spPr>
        <p:txBody>
          <a:bodyPr wrap="square" lIns="0" tIns="0" rIns="0" bIns="0" rtlCol="0" anchor="t"/>
          <a:lstStyle/>
          <a:p>
            <a:pPr algn="r" indent="0" marL="0">
              <a:buNone/>
            </a:pPr>
            <a:r>
              <a:rPr lang="en-US" sz="900" dirty="0">
                <a:solidFill>
                  <a:srgbClr val="6B7280"/>
                </a:solidFill>
              </a:rPr>
              <a:t>Product mockup · illustrative</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nodeType="withEffect">
                                  <p:stCondLst>
                                    <p:cond delay="38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par>
                                <p:cTn id="11" presetID="10" presetClass="entr" presetSubtype="0" fill="hold" nodeType="withEffect">
                                  <p:stCondLst>
                                    <p:cond delay="61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61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par>
                                <p:cTn id="17" presetID="10" presetClass="entr" presetSubtype="0" fill="hold" nodeType="withEffect">
                                  <p:stCondLst>
                                    <p:cond delay="61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par>
                                <p:cTn id="20" presetID="10" presetClass="entr" presetSubtype="0" fill="hold" nodeType="withEffect">
                                  <p:stCondLst>
                                    <p:cond delay="61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50"/>
                                        <p:tgtEl>
                                          <p:spTgt spid="14"/>
                                        </p:tgtEl>
                                      </p:cBhvr>
                                    </p:animEffect>
                                  </p:childTnLst>
                                </p:cTn>
                              </p:par>
                              <p:par>
                                <p:cTn id="23" presetID="10" presetClass="entr" presetSubtype="0" fill="hold" nodeType="withEffect">
                                  <p:stCondLst>
                                    <p:cond delay="61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50"/>
                                        <p:tgtEl>
                                          <p:spTgt spid="15"/>
                                        </p:tgtEl>
                                      </p:cBhvr>
                                    </p:animEffect>
                                  </p:childTnLst>
                                </p:cTn>
                              </p:par>
                              <p:par>
                                <p:cTn id="26" presetID="10" presetClass="entr" presetSubtype="0" fill="hold" nodeType="withEffect">
                                  <p:stCondLst>
                                    <p:cond delay="61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50"/>
                                        <p:tgtEl>
                                          <p:spTgt spid="16"/>
                                        </p:tgtEl>
                                      </p:cBhvr>
                                    </p:animEffect>
                                  </p:childTnLst>
                                </p:cTn>
                              </p:par>
                              <p:par>
                                <p:cTn id="29" presetID="10" presetClass="entr" presetSubtype="0" fill="hold" nodeType="withEffect">
                                  <p:stCondLst>
                                    <p:cond delay="61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50"/>
                                        <p:tgtEl>
                                          <p:spTgt spid="17"/>
                                        </p:tgtEl>
                                      </p:cBhvr>
                                    </p:animEffect>
                                  </p:childTnLst>
                                </p:cTn>
                              </p:par>
                              <p:par>
                                <p:cTn id="32" presetID="10" presetClass="entr" presetSubtype="0" fill="hold" nodeType="withEffect">
                                  <p:stCondLst>
                                    <p:cond delay="61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50"/>
                                        <p:tgtEl>
                                          <p:spTgt spid="18"/>
                                        </p:tgtEl>
                                      </p:cBhvr>
                                    </p:animEffect>
                                  </p:childTnLst>
                                </p:cTn>
                              </p:par>
                              <p:par>
                                <p:cTn id="35" presetID="10" presetClass="entr" presetSubtype="0" fill="hold" nodeType="withEffect">
                                  <p:stCondLst>
                                    <p:cond delay="61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50"/>
                                        <p:tgtEl>
                                          <p:spTgt spid="19"/>
                                        </p:tgtEl>
                                      </p:cBhvr>
                                    </p:animEffect>
                                  </p:childTnLst>
                                </p:cTn>
                              </p:par>
                              <p:par>
                                <p:cTn id="38" presetID="10" presetClass="entr" presetSubtype="0" fill="hold" nodeType="withEffect">
                                  <p:stCondLst>
                                    <p:cond delay="61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61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61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par>
                                <p:cTn id="47" presetID="10" presetClass="entr" presetSubtype="0" fill="hold" nodeType="withEffect">
                                  <p:stCondLst>
                                    <p:cond delay="6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50"/>
                                        <p:tgtEl>
                                          <p:spTgt spid="23"/>
                                        </p:tgtEl>
                                      </p:cBhvr>
                                    </p:animEffect>
                                  </p:childTnLst>
                                </p:cTn>
                              </p:par>
                              <p:par>
                                <p:cTn id="50" presetID="10" presetClass="entr" presetSubtype="0" fill="hold" nodeType="withEffect">
                                  <p:stCondLst>
                                    <p:cond delay="61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450"/>
                                        <p:tgtEl>
                                          <p:spTgt spid="24"/>
                                        </p:tgtEl>
                                      </p:cBhvr>
                                    </p:animEffect>
                                  </p:childTnLst>
                                </p:cTn>
                              </p:par>
                              <p:par>
                                <p:cTn id="53" presetID="10" presetClass="entr" presetSubtype="0" fill="hold" nodeType="withEffect">
                                  <p:stCondLst>
                                    <p:cond delay="61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50"/>
                                        <p:tgtEl>
                                          <p:spTgt spid="25"/>
                                        </p:tgtEl>
                                      </p:cBhvr>
                                    </p:animEffect>
                                  </p:childTnLst>
                                </p:cTn>
                              </p:par>
                              <p:par>
                                <p:cTn id="56" presetID="10" presetClass="entr" presetSubtype="0" fill="hold" nodeType="withEffect">
                                  <p:stCondLst>
                                    <p:cond delay="61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50"/>
                                        <p:tgtEl>
                                          <p:spTgt spid="26"/>
                                        </p:tgtEl>
                                      </p:cBhvr>
                                    </p:animEffect>
                                  </p:childTnLst>
                                </p:cTn>
                              </p:par>
                              <p:par>
                                <p:cTn id="59" presetID="10" presetClass="entr" presetSubtype="0" fill="hold" nodeType="withEffect">
                                  <p:stCondLst>
                                    <p:cond delay="61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50"/>
                                        <p:tgtEl>
                                          <p:spTgt spid="27"/>
                                        </p:tgtEl>
                                      </p:cBhvr>
                                    </p:animEffect>
                                  </p:childTnLst>
                                </p:cTn>
                              </p:par>
                              <p:par>
                                <p:cTn id="62" presetID="10" presetClass="entr" presetSubtype="0" fill="hold" nodeType="withEffect">
                                  <p:stCondLst>
                                    <p:cond delay="61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50"/>
                                        <p:tgtEl>
                                          <p:spTgt spid="28"/>
                                        </p:tgtEl>
                                      </p:cBhvr>
                                    </p:animEffect>
                                  </p:childTnLst>
                                </p:cTn>
                              </p:par>
                              <p:par>
                                <p:cTn id="65" presetID="10" presetClass="entr" presetSubtype="0" fill="hold" nodeType="withEffect">
                                  <p:stCondLst>
                                    <p:cond delay="61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50"/>
                                        <p:tgtEl>
                                          <p:spTgt spid="29"/>
                                        </p:tgtEl>
                                      </p:cBhvr>
                                    </p:animEffect>
                                  </p:childTnLst>
                                </p:cTn>
                              </p:par>
                              <p:par>
                                <p:cTn id="68" presetID="10" presetClass="entr" presetSubtype="0" fill="hold" nodeType="withEffect">
                                  <p:stCondLst>
                                    <p:cond delay="840"/>
                                  </p:stCondLst>
                                  <p:childTnLst>
                                    <p:set>
                                      <p:cBhvr>
                                        <p:cTn id="69" dur="1" fill="hold">
                                          <p:stCondLst>
                                            <p:cond delay="0"/>
                                          </p:stCondLst>
                                        </p:cTn>
                                        <p:tgtEl>
                                          <p:spTgt spid="4"/>
                                        </p:tgtEl>
                                        <p:attrNameLst>
                                          <p:attrName>style.visibility</p:attrName>
                                        </p:attrNameLst>
                                      </p:cBhvr>
                                      <p:to>
                                        <p:strVal val="visible"/>
                                      </p:to>
                                    </p:set>
                                    <p:animEffect transition="in" filter="fade">
                                      <p:cBhvr>
                                        <p:cTn id="70" dur="450"/>
                                        <p:tgtEl>
                                          <p:spTgt spid="4"/>
                                        </p:tgtEl>
                                      </p:cBhvr>
                                    </p:animEffect>
                                  </p:childTnLst>
                                </p:cTn>
                              </p:par>
                              <p:par>
                                <p:cTn id="71" presetID="10" presetClass="entr" presetSubtype="0" fill="hold" nodeType="withEffect">
                                  <p:stCondLst>
                                    <p:cond delay="1070"/>
                                  </p:stCondLst>
                                  <p:childTnLst>
                                    <p:set>
                                      <p:cBhvr>
                                        <p:cTn id="72" dur="1" fill="hold">
                                          <p:stCondLst>
                                            <p:cond delay="0"/>
                                          </p:stCondLst>
                                        </p:cTn>
                                        <p:tgtEl>
                                          <p:spTgt spid="5"/>
                                        </p:tgtEl>
                                        <p:attrNameLst>
                                          <p:attrName>style.visibility</p:attrName>
                                        </p:attrNameLst>
                                      </p:cBhvr>
                                      <p:to>
                                        <p:strVal val="visible"/>
                                      </p:to>
                                    </p:set>
                                    <p:animEffect transition="in" filter="fade">
                                      <p:cBhvr>
                                        <p:cTn id="73" dur="450"/>
                                        <p:tgtEl>
                                          <p:spTgt spid="5"/>
                                        </p:tgtEl>
                                      </p:cBhvr>
                                    </p:animEffect>
                                  </p:childTnLst>
                                </p:cTn>
                              </p:par>
                              <p:par>
                                <p:cTn id="74" presetID="10" presetClass="entr" presetSubtype="0" fill="hold" nodeType="withEffect">
                                  <p:stCondLst>
                                    <p:cond delay="1300"/>
                                  </p:stCondLst>
                                  <p:childTnLst>
                                    <p:set>
                                      <p:cBhvr>
                                        <p:cTn id="75" dur="1" fill="hold">
                                          <p:stCondLst>
                                            <p:cond delay="0"/>
                                          </p:stCondLst>
                                        </p:cTn>
                                        <p:tgtEl>
                                          <p:spTgt spid="6"/>
                                        </p:tgtEl>
                                        <p:attrNameLst>
                                          <p:attrName>style.visibility</p:attrName>
                                        </p:attrNameLst>
                                      </p:cBhvr>
                                      <p:to>
                                        <p:strVal val="visible"/>
                                      </p:to>
                                    </p:set>
                                    <p:animEffect transition="in" filter="fade">
                                      <p:cBhvr>
                                        <p:cTn id="76" dur="450"/>
                                        <p:tgtEl>
                                          <p:spTgt spid="6"/>
                                        </p:tgtEl>
                                      </p:cBhvr>
                                    </p:animEffect>
                                  </p:childTnLst>
                                </p:cTn>
                              </p:par>
                              <p:par>
                                <p:cTn id="77" presetID="10" presetClass="entr" presetSubtype="0" fill="hold" nodeType="withEffect">
                                  <p:stCondLst>
                                    <p:cond delay="1530"/>
                                  </p:stCondLst>
                                  <p:childTnLst>
                                    <p:set>
                                      <p:cBhvr>
                                        <p:cTn id="78" dur="1" fill="hold">
                                          <p:stCondLst>
                                            <p:cond delay="0"/>
                                          </p:stCondLst>
                                        </p:cTn>
                                        <p:tgtEl>
                                          <p:spTgt spid="7"/>
                                        </p:tgtEl>
                                        <p:attrNameLst>
                                          <p:attrName>style.visibility</p:attrName>
                                        </p:attrNameLst>
                                      </p:cBhvr>
                                      <p:to>
                                        <p:strVal val="visible"/>
                                      </p:to>
                                    </p:set>
                                    <p:animEffect transition="in" filter="fade">
                                      <p:cBhvr>
                                        <p:cTn id="79" dur="450"/>
                                        <p:tgtEl>
                                          <p:spTgt spid="7"/>
                                        </p:tgtEl>
                                      </p:cBhvr>
                                    </p:animEffect>
                                  </p:childTnLst>
                                </p:cTn>
                              </p:par>
                              <p:par>
                                <p:cTn id="80" presetID="10" presetClass="entr" presetSubtype="0" fill="hold" nodeType="withEffect">
                                  <p:stCondLst>
                                    <p:cond delay="1760"/>
                                  </p:stCondLst>
                                  <p:childTnLst>
                                    <p:set>
                                      <p:cBhvr>
                                        <p:cTn id="81" dur="1" fill="hold">
                                          <p:stCondLst>
                                            <p:cond delay="0"/>
                                          </p:stCondLst>
                                        </p:cTn>
                                        <p:tgtEl>
                                          <p:spTgt spid="8"/>
                                        </p:tgtEl>
                                        <p:attrNameLst>
                                          <p:attrName>style.visibility</p:attrName>
                                        </p:attrNameLst>
                                      </p:cBhvr>
                                      <p:to>
                                        <p:strVal val="visible"/>
                                      </p:to>
                                    </p:set>
                                    <p:animEffect transition="in" filter="fade">
                                      <p:cBhvr>
                                        <p:cTn id="82" dur="450"/>
                                        <p:tgtEl>
                                          <p:spTgt spid="8"/>
                                        </p:tgtEl>
                                      </p:cBhvr>
                                    </p:animEffect>
                                  </p:childTnLst>
                                </p:cTn>
                              </p:par>
                              <p:par>
                                <p:cTn id="83" presetID="10" presetClass="entr" presetSubtype="0" fill="hold" nodeType="withEffect">
                                  <p:stCondLst>
                                    <p:cond delay="1990"/>
                                  </p:stCondLst>
                                  <p:childTnLst>
                                    <p:set>
                                      <p:cBhvr>
                                        <p:cTn id="84" dur="1" fill="hold">
                                          <p:stCondLst>
                                            <p:cond delay="0"/>
                                          </p:stCondLst>
                                        </p:cTn>
                                        <p:tgtEl>
                                          <p:spTgt spid="9"/>
                                        </p:tgtEl>
                                        <p:attrNameLst>
                                          <p:attrName>style.visibility</p:attrName>
                                        </p:attrNameLst>
                                      </p:cBhvr>
                                      <p:to>
                                        <p:strVal val="visible"/>
                                      </p:to>
                                    </p:set>
                                    <p:animEffect transition="in" filter="fade">
                                      <p:cBhvr>
                                        <p:cTn id="85" dur="450"/>
                                        <p:tgtEl>
                                          <p:spTgt spid="9"/>
                                        </p:tgtEl>
                                      </p:cBhvr>
                                    </p:animEffect>
                                  </p:childTnLst>
                                </p:cTn>
                              </p:par>
                              <p:par>
                                <p:cTn id="86" presetID="10" presetClass="entr" presetSubtype="0" fill="hold" nodeType="withEffect">
                                  <p:stCondLst>
                                    <p:cond delay="2220"/>
                                  </p:stCondLst>
                                  <p:childTnLst>
                                    <p:set>
                                      <p:cBhvr>
                                        <p:cTn id="87" dur="1" fill="hold">
                                          <p:stCondLst>
                                            <p:cond delay="0"/>
                                          </p:stCondLst>
                                        </p:cTn>
                                        <p:tgtEl>
                                          <p:spTgt spid="10"/>
                                        </p:tgtEl>
                                        <p:attrNameLst>
                                          <p:attrName>style.visibility</p:attrName>
                                        </p:attrNameLst>
                                      </p:cBhvr>
                                      <p:to>
                                        <p:strVal val="visible"/>
                                      </p:to>
                                    </p:set>
                                    <p:animEffect transition="in" filter="fade">
                                      <p:cBhvr>
                                        <p:cTn id="88" dur="450"/>
                                        <p:tgtEl>
                                          <p:spTgt spid="10"/>
                                        </p:tgtEl>
                                      </p:cBhvr>
                                    </p:animEffect>
                                  </p:childTnLst>
                                </p:cTn>
                              </p:par>
                              <p:par>
                                <p:cTn id="89" presetID="10" presetClass="entr" presetSubtype="0" fill="hold" nodeType="withEffect">
                                  <p:stCondLst>
                                    <p:cond delay="245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046720" cy="685800"/>
          </a:xfrm>
          <a:prstGeom prst="rect">
            <a:avLst/>
          </a:prstGeom>
          <a:noFill/>
          <a:ln/>
        </p:spPr>
        <p:txBody>
          <a:bodyPr wrap="square" lIns="0" tIns="0" rIns="0" bIns="0" rtlCol="0" anchor="ctr"/>
          <a:lstStyle/>
          <a:p>
            <a:pPr algn="l" indent="0" marL="0">
              <a:buNone/>
            </a:pPr>
            <a:r>
              <a:rPr lang="en-US" sz="2800" b="1" dirty="0">
                <a:solidFill>
                  <a:srgbClr val="1F2328"/>
                </a:solidFill>
              </a:rPr>
              <a:t>Projects fall behind before anyone notices</a:t>
            </a:r>
            <a:endParaRPr lang="en-US" sz="2800" dirty="0"/>
          </a:p>
        </p:txBody>
      </p:sp>
      <p:sp>
        <p:nvSpPr>
          <p:cNvPr id="3" name="Shape 1"/>
          <p:cNvSpPr/>
          <p:nvPr/>
        </p:nvSpPr>
        <p:spPr>
          <a:xfrm>
            <a:off x="548640" y="1188720"/>
            <a:ext cx="3291840" cy="3246120"/>
          </a:xfrm>
          <a:prstGeom prst="roundRect">
            <a:avLst>
              <a:gd name="adj" fmla="val 2254"/>
            </a:avLst>
          </a:prstGeom>
          <a:solidFill>
            <a:srgbClr val="FFFFFF"/>
          </a:solidFill>
          <a:ln w="9525">
            <a:solidFill>
              <a:srgbClr val="E5E7EB"/>
            </a:solidFill>
            <a:prstDash val="solid"/>
          </a:ln>
          <a:effectLst>
            <a:outerShdw sx="100000" sy="100000" kx="0" ky="0" algn="bl" rotWithShape="0" blurRad="101600" dist="25400" dir="5400000">
              <a:srgbClr val="1F2328">
                <a:alpha val="6000"/>
              </a:srgbClr>
            </a:outerShdw>
          </a:effectLst>
        </p:spPr>
      </p:sp>
      <p:sp>
        <p:nvSpPr>
          <p:cNvPr id="4" name="Text 2"/>
          <p:cNvSpPr txBox="1"/>
          <p:nvPr/>
        </p:nvSpPr>
        <p:spPr>
          <a:xfrm>
            <a:off x="777240" y="1371600"/>
            <a:ext cx="2834640" cy="274320"/>
          </a:xfrm>
          <a:prstGeom prst="rect">
            <a:avLst/>
          </a:prstGeom>
          <a:noFill/>
          <a:ln/>
        </p:spPr>
        <p:txBody>
          <a:bodyPr wrap="square" lIns="0" tIns="0" rIns="0" bIns="0" rtlCol="0" anchor="t"/>
          <a:lstStyle/>
          <a:p>
            <a:pPr indent="0" marL="0">
              <a:buNone/>
            </a:pPr>
            <a:r>
              <a:rPr lang="en-US" sz="1200" b="1" dirty="0">
                <a:solidFill>
                  <a:srgbClr val="5B4FCF"/>
                </a:solidFill>
              </a:rPr>
              <a:t>A familiar pattern</a:t>
            </a:r>
            <a:endParaRPr lang="en-US" sz="1200" dirty="0"/>
          </a:p>
        </p:txBody>
      </p:sp>
      <p:sp>
        <p:nvSpPr>
          <p:cNvPr id="5" name="Shape 3"/>
          <p:cNvSpPr/>
          <p:nvPr/>
        </p:nvSpPr>
        <p:spPr>
          <a:xfrm>
            <a:off x="804672" y="1837944"/>
            <a:ext cx="146304" cy="146304"/>
          </a:xfrm>
          <a:prstGeom prst="ellipse">
            <a:avLst/>
          </a:prstGeom>
          <a:solidFill>
            <a:srgbClr val="5B4FCF"/>
          </a:solidFill>
          <a:ln w="12700">
            <a:solidFill>
              <a:srgbClr val="5B4FCF"/>
            </a:solidFill>
            <a:prstDash val="solid"/>
          </a:ln>
        </p:spPr>
      </p:sp>
      <p:sp>
        <p:nvSpPr>
          <p:cNvPr id="6" name="Shape 4"/>
          <p:cNvSpPr/>
          <p:nvPr/>
        </p:nvSpPr>
        <p:spPr>
          <a:xfrm>
            <a:off x="877824" y="2020824"/>
            <a:ext cx="0" cy="640080"/>
          </a:xfrm>
          <a:prstGeom prst="line">
            <a:avLst/>
          </a:prstGeom>
          <a:noFill/>
          <a:ln w="19050">
            <a:solidFill>
              <a:srgbClr val="E5E7EB"/>
            </a:solidFill>
            <a:prstDash val="solid"/>
          </a:ln>
        </p:spPr>
      </p:sp>
      <p:sp>
        <p:nvSpPr>
          <p:cNvPr id="7" name="Text 5"/>
          <p:cNvSpPr txBox="1"/>
          <p:nvPr/>
        </p:nvSpPr>
        <p:spPr>
          <a:xfrm>
            <a:off x="1097280" y="1783080"/>
            <a:ext cx="2560320" cy="228600"/>
          </a:xfrm>
          <a:prstGeom prst="rect">
            <a:avLst/>
          </a:prstGeom>
          <a:noFill/>
          <a:ln/>
        </p:spPr>
        <p:txBody>
          <a:bodyPr wrap="square" lIns="0" tIns="0" rIns="0" bIns="0" rtlCol="0" anchor="t"/>
          <a:lstStyle/>
          <a:p>
            <a:pPr indent="0" marL="0">
              <a:buNone/>
            </a:pPr>
            <a:r>
              <a:rPr lang="en-US" sz="1100" b="1" dirty="0">
                <a:solidFill>
                  <a:srgbClr val="6B7280"/>
                </a:solidFill>
              </a:rPr>
              <a:t>Monday</a:t>
            </a:r>
            <a:endParaRPr lang="en-US" sz="1100" dirty="0"/>
          </a:p>
        </p:txBody>
      </p:sp>
      <p:sp>
        <p:nvSpPr>
          <p:cNvPr id="8" name="Text 6"/>
          <p:cNvSpPr txBox="1"/>
          <p:nvPr/>
        </p:nvSpPr>
        <p:spPr>
          <a:xfrm>
            <a:off x="1097280" y="2020824"/>
            <a:ext cx="2606040" cy="457200"/>
          </a:xfrm>
          <a:prstGeom prst="rect">
            <a:avLst/>
          </a:prstGeom>
          <a:noFill/>
          <a:ln/>
        </p:spPr>
        <p:txBody>
          <a:bodyPr wrap="square" lIns="0" tIns="0" rIns="0" bIns="0" rtlCol="0" anchor="t"/>
          <a:lstStyle/>
          <a:p>
            <a:pPr indent="0" marL="0">
              <a:buNone/>
            </a:pPr>
            <a:r>
              <a:rPr lang="en-US" sz="1300" i="1" dirty="0">
                <a:solidFill>
                  <a:srgbClr val="1F2328"/>
                </a:solidFill>
              </a:rPr>
              <a:t>“Almost done, will finish today.”</a:t>
            </a:r>
            <a:endParaRPr lang="en-US" sz="1300" dirty="0"/>
          </a:p>
        </p:txBody>
      </p:sp>
      <p:sp>
        <p:nvSpPr>
          <p:cNvPr id="9" name="Shape 7"/>
          <p:cNvSpPr/>
          <p:nvPr/>
        </p:nvSpPr>
        <p:spPr>
          <a:xfrm>
            <a:off x="804672" y="2660904"/>
            <a:ext cx="146304" cy="146304"/>
          </a:xfrm>
          <a:prstGeom prst="ellipse">
            <a:avLst/>
          </a:prstGeom>
          <a:solidFill>
            <a:srgbClr val="5B4FCF"/>
          </a:solidFill>
          <a:ln w="12700">
            <a:solidFill>
              <a:srgbClr val="5B4FCF"/>
            </a:solidFill>
            <a:prstDash val="solid"/>
          </a:ln>
        </p:spPr>
      </p:sp>
      <p:sp>
        <p:nvSpPr>
          <p:cNvPr id="10" name="Shape 8"/>
          <p:cNvSpPr/>
          <p:nvPr/>
        </p:nvSpPr>
        <p:spPr>
          <a:xfrm>
            <a:off x="877824" y="2843784"/>
            <a:ext cx="0" cy="640080"/>
          </a:xfrm>
          <a:prstGeom prst="line">
            <a:avLst/>
          </a:prstGeom>
          <a:noFill/>
          <a:ln w="19050">
            <a:solidFill>
              <a:srgbClr val="E5E7EB"/>
            </a:solidFill>
            <a:prstDash val="solid"/>
          </a:ln>
        </p:spPr>
      </p:sp>
      <p:sp>
        <p:nvSpPr>
          <p:cNvPr id="11" name="Text 9"/>
          <p:cNvSpPr txBox="1"/>
          <p:nvPr/>
        </p:nvSpPr>
        <p:spPr>
          <a:xfrm>
            <a:off x="1097280" y="2606040"/>
            <a:ext cx="2560320" cy="228600"/>
          </a:xfrm>
          <a:prstGeom prst="rect">
            <a:avLst/>
          </a:prstGeom>
          <a:noFill/>
          <a:ln/>
        </p:spPr>
        <p:txBody>
          <a:bodyPr wrap="square" lIns="0" tIns="0" rIns="0" bIns="0" rtlCol="0" anchor="t"/>
          <a:lstStyle/>
          <a:p>
            <a:pPr indent="0" marL="0">
              <a:buNone/>
            </a:pPr>
            <a:r>
              <a:rPr lang="en-US" sz="1100" b="1" dirty="0">
                <a:solidFill>
                  <a:srgbClr val="6B7280"/>
                </a:solidFill>
              </a:rPr>
              <a:t>Wednesday</a:t>
            </a:r>
            <a:endParaRPr lang="en-US" sz="1100" dirty="0"/>
          </a:p>
        </p:txBody>
      </p:sp>
      <p:sp>
        <p:nvSpPr>
          <p:cNvPr id="12" name="Text 10"/>
          <p:cNvSpPr txBox="1"/>
          <p:nvPr/>
        </p:nvSpPr>
        <p:spPr>
          <a:xfrm>
            <a:off x="1097280" y="2843784"/>
            <a:ext cx="2606040" cy="457200"/>
          </a:xfrm>
          <a:prstGeom prst="rect">
            <a:avLst/>
          </a:prstGeom>
          <a:noFill/>
          <a:ln/>
        </p:spPr>
        <p:txBody>
          <a:bodyPr wrap="square" lIns="0" tIns="0" rIns="0" bIns="0" rtlCol="0" anchor="t"/>
          <a:lstStyle/>
          <a:p>
            <a:pPr indent="0" marL="0">
              <a:buNone/>
            </a:pPr>
            <a:r>
              <a:rPr lang="en-US" sz="1300" i="1" dirty="0">
                <a:solidFill>
                  <a:srgbClr val="1F2328"/>
                </a:solidFill>
              </a:rPr>
              <a:t>“Just a little left.”</a:t>
            </a:r>
            <a:endParaRPr lang="en-US" sz="1300" dirty="0"/>
          </a:p>
        </p:txBody>
      </p:sp>
      <p:sp>
        <p:nvSpPr>
          <p:cNvPr id="13" name="Shape 11"/>
          <p:cNvSpPr/>
          <p:nvPr/>
        </p:nvSpPr>
        <p:spPr>
          <a:xfrm>
            <a:off x="804672" y="3483864"/>
            <a:ext cx="146304" cy="146304"/>
          </a:xfrm>
          <a:prstGeom prst="ellipse">
            <a:avLst/>
          </a:prstGeom>
          <a:solidFill>
            <a:srgbClr val="D9922B"/>
          </a:solidFill>
          <a:ln w="12700">
            <a:solidFill>
              <a:srgbClr val="D9922B"/>
            </a:solidFill>
            <a:prstDash val="solid"/>
          </a:ln>
        </p:spPr>
      </p:sp>
      <p:sp>
        <p:nvSpPr>
          <p:cNvPr id="14" name="Text 12"/>
          <p:cNvSpPr txBox="1"/>
          <p:nvPr/>
        </p:nvSpPr>
        <p:spPr>
          <a:xfrm>
            <a:off x="1097280" y="3429000"/>
            <a:ext cx="2560320" cy="228600"/>
          </a:xfrm>
          <a:prstGeom prst="rect">
            <a:avLst/>
          </a:prstGeom>
          <a:noFill/>
          <a:ln/>
        </p:spPr>
        <p:txBody>
          <a:bodyPr wrap="square" lIns="0" tIns="0" rIns="0" bIns="0" rtlCol="0" anchor="t"/>
          <a:lstStyle/>
          <a:p>
            <a:pPr indent="0" marL="0">
              <a:buNone/>
            </a:pPr>
            <a:r>
              <a:rPr lang="en-US" sz="1100" b="1" dirty="0">
                <a:solidFill>
                  <a:srgbClr val="6B7280"/>
                </a:solidFill>
              </a:rPr>
              <a:t>Friday</a:t>
            </a:r>
            <a:endParaRPr lang="en-US" sz="1100" dirty="0"/>
          </a:p>
        </p:txBody>
      </p:sp>
      <p:sp>
        <p:nvSpPr>
          <p:cNvPr id="15" name="Text 13"/>
          <p:cNvSpPr txBox="1"/>
          <p:nvPr/>
        </p:nvSpPr>
        <p:spPr>
          <a:xfrm>
            <a:off x="1097280" y="3666744"/>
            <a:ext cx="2606040" cy="457200"/>
          </a:xfrm>
          <a:prstGeom prst="rect">
            <a:avLst/>
          </a:prstGeom>
          <a:noFill/>
          <a:ln/>
        </p:spPr>
        <p:txBody>
          <a:bodyPr wrap="square" lIns="0" tIns="0" rIns="0" bIns="0" rtlCol="0" anchor="t"/>
          <a:lstStyle/>
          <a:p>
            <a:pPr indent="0" marL="0">
              <a:buNone/>
            </a:pPr>
            <a:r>
              <a:rPr lang="en-US" sz="1300" b="1" dirty="0">
                <a:solidFill>
                  <a:srgbClr val="8A5A12"/>
                </a:solidFill>
              </a:rPr>
              <a:t>Deadline missed. The blocker surfaces.</a:t>
            </a:r>
            <a:endParaRPr lang="en-US" sz="1300" dirty="0"/>
          </a:p>
        </p:txBody>
      </p:sp>
      <p:sp>
        <p:nvSpPr>
          <p:cNvPr id="16" name="Text 14"/>
          <p:cNvSpPr txBox="1"/>
          <p:nvPr/>
        </p:nvSpPr>
        <p:spPr>
          <a:xfrm>
            <a:off x="4160520" y="1188720"/>
            <a:ext cx="4389120" cy="274320"/>
          </a:xfrm>
          <a:prstGeom prst="rect">
            <a:avLst/>
          </a:prstGeom>
          <a:noFill/>
          <a:ln/>
        </p:spPr>
        <p:txBody>
          <a:bodyPr wrap="square" lIns="0" tIns="0" rIns="0" bIns="0" rtlCol="0" anchor="t"/>
          <a:lstStyle/>
          <a:p>
            <a:pPr indent="0" marL="0">
              <a:buNone/>
            </a:pPr>
            <a:r>
              <a:rPr lang="en-US" sz="1400" b="1" dirty="0">
                <a:solidFill>
                  <a:srgbClr val="1F2328"/>
                </a:solidFill>
              </a:rPr>
              <a:t>What goes wrong</a:t>
            </a:r>
            <a:endParaRPr lang="en-US" sz="1400" dirty="0"/>
          </a:p>
        </p:txBody>
      </p:sp>
      <p:sp>
        <p:nvSpPr>
          <p:cNvPr id="17" name="Shape 15"/>
          <p:cNvSpPr/>
          <p:nvPr/>
        </p:nvSpPr>
        <p:spPr>
          <a:xfrm>
            <a:off x="4160520" y="1572768"/>
            <a:ext cx="329184" cy="329184"/>
          </a:xfrm>
          <a:prstGeom prst="ellipse">
            <a:avLst/>
          </a:prstGeom>
          <a:solidFill>
            <a:srgbClr val="5B4FCF"/>
          </a:solidFill>
          <a:ln w="12700">
            <a:solidFill>
              <a:srgbClr val="5B4FCF"/>
            </a:solidFill>
            <a:prstDash val="solid"/>
          </a:ln>
        </p:spPr>
      </p:sp>
      <p:sp>
        <p:nvSpPr>
          <p:cNvPr id="18" name="Text 16"/>
          <p:cNvSpPr txBox="1"/>
          <p:nvPr/>
        </p:nvSpPr>
        <p:spPr>
          <a:xfrm>
            <a:off x="4160520" y="15727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9" name="Text 17"/>
          <p:cNvSpPr txBox="1"/>
          <p:nvPr/>
        </p:nvSpPr>
        <p:spPr>
          <a:xfrm>
            <a:off x="4617720" y="1554480"/>
            <a:ext cx="3931920" cy="228600"/>
          </a:xfrm>
          <a:prstGeom prst="rect">
            <a:avLst/>
          </a:prstGeom>
          <a:noFill/>
          <a:ln/>
        </p:spPr>
        <p:txBody>
          <a:bodyPr wrap="square" lIns="0" tIns="0" rIns="0" bIns="0" rtlCol="0" anchor="t"/>
          <a:lstStyle/>
          <a:p>
            <a:pPr indent="0" marL="0">
              <a:buNone/>
            </a:pPr>
            <a:r>
              <a:rPr lang="en-US" sz="1400" b="1" dirty="0">
                <a:solidFill>
                  <a:srgbClr val="1F2328"/>
                </a:solidFill>
              </a:rPr>
              <a:t>Unclear ownership</a:t>
            </a:r>
            <a:endParaRPr lang="en-US" sz="1400" dirty="0"/>
          </a:p>
        </p:txBody>
      </p:sp>
      <p:sp>
        <p:nvSpPr>
          <p:cNvPr id="20" name="Text 18"/>
          <p:cNvSpPr txBox="1"/>
          <p:nvPr/>
        </p:nvSpPr>
        <p:spPr>
          <a:xfrm>
            <a:off x="4617720" y="1792224"/>
            <a:ext cx="3931920" cy="274320"/>
          </a:xfrm>
          <a:prstGeom prst="rect">
            <a:avLst/>
          </a:prstGeom>
          <a:noFill/>
          <a:ln/>
        </p:spPr>
        <p:txBody>
          <a:bodyPr wrap="square" lIns="0" tIns="0" rIns="0" bIns="0" rtlCol="0" anchor="t"/>
          <a:lstStyle/>
          <a:p>
            <a:pPr indent="0" marL="0">
              <a:buNone/>
            </a:pPr>
            <a:r>
              <a:rPr lang="en-US" sz="1200" dirty="0">
                <a:solidFill>
                  <a:srgbClr val="6B7280"/>
                </a:solidFill>
              </a:rPr>
              <a:t>Members aren't sure who owns which task and deadline.</a:t>
            </a:r>
            <a:endParaRPr lang="en-US" sz="1200" dirty="0"/>
          </a:p>
        </p:txBody>
      </p:sp>
      <p:sp>
        <p:nvSpPr>
          <p:cNvPr id="21" name="Shape 19"/>
          <p:cNvSpPr/>
          <p:nvPr/>
        </p:nvSpPr>
        <p:spPr>
          <a:xfrm>
            <a:off x="4160520" y="2194560"/>
            <a:ext cx="329184" cy="329184"/>
          </a:xfrm>
          <a:prstGeom prst="ellipse">
            <a:avLst/>
          </a:prstGeom>
          <a:solidFill>
            <a:srgbClr val="5B4FCF"/>
          </a:solidFill>
          <a:ln w="12700">
            <a:solidFill>
              <a:srgbClr val="5B4FCF"/>
            </a:solidFill>
            <a:prstDash val="solid"/>
          </a:ln>
        </p:spPr>
      </p:sp>
      <p:sp>
        <p:nvSpPr>
          <p:cNvPr id="22" name="Text 20"/>
          <p:cNvSpPr txBox="1"/>
          <p:nvPr/>
        </p:nvSpPr>
        <p:spPr>
          <a:xfrm>
            <a:off x="4160520" y="2194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3" name="Text 21"/>
          <p:cNvSpPr txBox="1"/>
          <p:nvPr/>
        </p:nvSpPr>
        <p:spPr>
          <a:xfrm>
            <a:off x="4617720" y="2176272"/>
            <a:ext cx="3931920" cy="228600"/>
          </a:xfrm>
          <a:prstGeom prst="rect">
            <a:avLst/>
          </a:prstGeom>
          <a:noFill/>
          <a:ln/>
        </p:spPr>
        <p:txBody>
          <a:bodyPr wrap="square" lIns="0" tIns="0" rIns="0" bIns="0" rtlCol="0" anchor="t"/>
          <a:lstStyle/>
          <a:p>
            <a:pPr indent="0" marL="0">
              <a:buNone/>
            </a:pPr>
            <a:r>
              <a:rPr lang="en-US" sz="1400" b="1" dirty="0">
                <a:solidFill>
                  <a:srgbClr val="1F2328"/>
                </a:solidFill>
              </a:rPr>
              <a:t>Outdated progress</a:t>
            </a:r>
            <a:endParaRPr lang="en-US" sz="1400" dirty="0"/>
          </a:p>
        </p:txBody>
      </p:sp>
      <p:sp>
        <p:nvSpPr>
          <p:cNvPr id="24" name="Text 22"/>
          <p:cNvSpPr txBox="1"/>
          <p:nvPr/>
        </p:nvSpPr>
        <p:spPr>
          <a:xfrm>
            <a:off x="4617720" y="2414016"/>
            <a:ext cx="3931920" cy="274320"/>
          </a:xfrm>
          <a:prstGeom prst="rect">
            <a:avLst/>
          </a:prstGeom>
          <a:noFill/>
          <a:ln/>
        </p:spPr>
        <p:txBody>
          <a:bodyPr wrap="square" lIns="0" tIns="0" rIns="0" bIns="0" rtlCol="0" anchor="t"/>
          <a:lstStyle/>
          <a:p>
            <a:pPr indent="0" marL="0">
              <a:buNone/>
            </a:pPr>
            <a:r>
              <a:rPr lang="en-US" sz="1200" dirty="0">
                <a:solidFill>
                  <a:srgbClr val="6B7280"/>
                </a:solidFill>
              </a:rPr>
              <a:t>Updates like “almost done” hide stalled work.</a:t>
            </a:r>
            <a:endParaRPr lang="en-US" sz="1200" dirty="0"/>
          </a:p>
        </p:txBody>
      </p:sp>
      <p:sp>
        <p:nvSpPr>
          <p:cNvPr id="25" name="Shape 23"/>
          <p:cNvSpPr/>
          <p:nvPr/>
        </p:nvSpPr>
        <p:spPr>
          <a:xfrm>
            <a:off x="4160520" y="2816352"/>
            <a:ext cx="329184" cy="329184"/>
          </a:xfrm>
          <a:prstGeom prst="ellipse">
            <a:avLst/>
          </a:prstGeom>
          <a:solidFill>
            <a:srgbClr val="5B4FCF"/>
          </a:solidFill>
          <a:ln w="12700">
            <a:solidFill>
              <a:srgbClr val="5B4FCF"/>
            </a:solidFill>
            <a:prstDash val="solid"/>
          </a:ln>
        </p:spPr>
      </p:sp>
      <p:sp>
        <p:nvSpPr>
          <p:cNvPr id="26" name="Text 24"/>
          <p:cNvSpPr txBox="1"/>
          <p:nvPr/>
        </p:nvSpPr>
        <p:spPr>
          <a:xfrm>
            <a:off x="4160520" y="28163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7" name="Text 25"/>
          <p:cNvSpPr txBox="1"/>
          <p:nvPr/>
        </p:nvSpPr>
        <p:spPr>
          <a:xfrm>
            <a:off x="4617720" y="2798064"/>
            <a:ext cx="3931920" cy="228600"/>
          </a:xfrm>
          <a:prstGeom prst="rect">
            <a:avLst/>
          </a:prstGeom>
          <a:noFill/>
          <a:ln/>
        </p:spPr>
        <p:txBody>
          <a:bodyPr wrap="square" lIns="0" tIns="0" rIns="0" bIns="0" rtlCol="0" anchor="t"/>
          <a:lstStyle/>
          <a:p>
            <a:pPr indent="0" marL="0">
              <a:buNone/>
            </a:pPr>
            <a:r>
              <a:rPr lang="en-US" sz="1400" b="1" dirty="0">
                <a:solidFill>
                  <a:srgbClr val="1F2328"/>
                </a:solidFill>
              </a:rPr>
              <a:t>Late intervention</a:t>
            </a:r>
            <a:endParaRPr lang="en-US" sz="1400" dirty="0"/>
          </a:p>
        </p:txBody>
      </p:sp>
      <p:sp>
        <p:nvSpPr>
          <p:cNvPr id="28" name="Text 26"/>
          <p:cNvSpPr txBox="1"/>
          <p:nvPr/>
        </p:nvSpPr>
        <p:spPr>
          <a:xfrm>
            <a:off x="4617720" y="3035808"/>
            <a:ext cx="3931920" cy="274320"/>
          </a:xfrm>
          <a:prstGeom prst="rect">
            <a:avLst/>
          </a:prstGeom>
          <a:noFill/>
          <a:ln/>
        </p:spPr>
        <p:txBody>
          <a:bodyPr wrap="square" lIns="0" tIns="0" rIns="0" bIns="0" rtlCol="0" anchor="t"/>
          <a:lstStyle/>
          <a:p>
            <a:pPr indent="0" marL="0">
              <a:buNone/>
            </a:pPr>
            <a:r>
              <a:rPr lang="en-US" sz="1200" dirty="0">
                <a:solidFill>
                  <a:srgbClr val="6B7280"/>
                </a:solidFill>
              </a:rPr>
              <a:t>Leads discover blockers when it's too late to help.</a:t>
            </a:r>
            <a:endParaRPr lang="en-US" sz="1200" dirty="0"/>
          </a:p>
        </p:txBody>
      </p:sp>
      <p:sp>
        <p:nvSpPr>
          <p:cNvPr id="29" name="Text 27"/>
          <p:cNvSpPr txBox="1"/>
          <p:nvPr/>
        </p:nvSpPr>
        <p:spPr>
          <a:xfrm>
            <a:off x="4160520" y="3520440"/>
            <a:ext cx="4389120" cy="274320"/>
          </a:xfrm>
          <a:prstGeom prst="rect">
            <a:avLst/>
          </a:prstGeom>
          <a:noFill/>
          <a:ln/>
        </p:spPr>
        <p:txBody>
          <a:bodyPr wrap="square" lIns="0" tIns="0" rIns="0" bIns="0" rtlCol="0" anchor="t"/>
          <a:lstStyle/>
          <a:p>
            <a:pPr indent="0" marL="0">
              <a:buNone/>
            </a:pPr>
            <a:r>
              <a:rPr lang="en-US" sz="1400" b="1" dirty="0">
                <a:solidFill>
                  <a:srgbClr val="1F2328"/>
                </a:solidFill>
              </a:rPr>
              <a:t>Who faces it</a:t>
            </a:r>
            <a:endParaRPr lang="en-US" sz="1400" dirty="0"/>
          </a:p>
        </p:txBody>
      </p:sp>
      <p:sp>
        <p:nvSpPr>
          <p:cNvPr id="30" name="Shape 28"/>
          <p:cNvSpPr/>
          <p:nvPr/>
        </p:nvSpPr>
        <p:spPr>
          <a:xfrm>
            <a:off x="4160520" y="3886200"/>
            <a:ext cx="1143000" cy="256032"/>
          </a:xfrm>
          <a:prstGeom prst="roundRect">
            <a:avLst>
              <a:gd name="adj" fmla="val 50000"/>
            </a:avLst>
          </a:prstGeom>
          <a:solidFill>
            <a:srgbClr val="EEEDFB"/>
          </a:solidFill>
          <a:ln w="12700">
            <a:solidFill>
              <a:srgbClr val="EEEDFB"/>
            </a:solidFill>
            <a:prstDash val="solid"/>
          </a:ln>
        </p:spPr>
      </p:sp>
      <p:sp>
        <p:nvSpPr>
          <p:cNvPr id="31" name="Text 29"/>
          <p:cNvSpPr txBox="1"/>
          <p:nvPr/>
        </p:nvSpPr>
        <p:spPr>
          <a:xfrm>
            <a:off x="4160520" y="3886200"/>
            <a:ext cx="1143000" cy="256032"/>
          </a:xfrm>
          <a:prstGeom prst="rect">
            <a:avLst/>
          </a:prstGeom>
          <a:noFill/>
          <a:ln/>
        </p:spPr>
        <p:txBody>
          <a:bodyPr wrap="square" lIns="0" tIns="0" rIns="0" bIns="0" rtlCol="0" anchor="ctr"/>
          <a:lstStyle/>
          <a:p>
            <a:pPr algn="ctr" indent="0" marL="0">
              <a:buNone/>
            </a:pPr>
            <a:r>
              <a:rPr lang="en-US" sz="1000" b="1" dirty="0">
                <a:solidFill>
                  <a:srgbClr val="5B4FCF"/>
                </a:solidFill>
              </a:rPr>
              <a:t>Team leads</a:t>
            </a:r>
            <a:endParaRPr lang="en-US" sz="1000" dirty="0"/>
          </a:p>
        </p:txBody>
      </p:sp>
      <p:sp>
        <p:nvSpPr>
          <p:cNvPr id="32" name="Shape 30"/>
          <p:cNvSpPr/>
          <p:nvPr/>
        </p:nvSpPr>
        <p:spPr>
          <a:xfrm>
            <a:off x="5413248" y="3886200"/>
            <a:ext cx="1325880" cy="256032"/>
          </a:xfrm>
          <a:prstGeom prst="roundRect">
            <a:avLst>
              <a:gd name="adj" fmla="val 50000"/>
            </a:avLst>
          </a:prstGeom>
          <a:solidFill>
            <a:srgbClr val="EEEDFB"/>
          </a:solidFill>
          <a:ln w="12700">
            <a:solidFill>
              <a:srgbClr val="EEEDFB"/>
            </a:solidFill>
            <a:prstDash val="solid"/>
          </a:ln>
        </p:spPr>
      </p:sp>
      <p:sp>
        <p:nvSpPr>
          <p:cNvPr id="33" name="Text 31"/>
          <p:cNvSpPr txBox="1"/>
          <p:nvPr/>
        </p:nvSpPr>
        <p:spPr>
          <a:xfrm>
            <a:off x="5413248" y="3886200"/>
            <a:ext cx="1325880" cy="256032"/>
          </a:xfrm>
          <a:prstGeom prst="rect">
            <a:avLst/>
          </a:prstGeom>
          <a:noFill/>
          <a:ln/>
        </p:spPr>
        <p:txBody>
          <a:bodyPr wrap="square" lIns="0" tIns="0" rIns="0" bIns="0" rtlCol="0" anchor="ctr"/>
          <a:lstStyle/>
          <a:p>
            <a:pPr algn="ctr" indent="0" marL="0">
              <a:buNone/>
            </a:pPr>
            <a:r>
              <a:rPr lang="en-US" sz="1000" b="1" dirty="0">
                <a:solidFill>
                  <a:srgbClr val="5B4FCF"/>
                </a:solidFill>
              </a:rPr>
              <a:t>Software houses</a:t>
            </a:r>
            <a:endParaRPr lang="en-US" sz="1000" dirty="0"/>
          </a:p>
        </p:txBody>
      </p:sp>
      <p:sp>
        <p:nvSpPr>
          <p:cNvPr id="34" name="Shape 32"/>
          <p:cNvSpPr/>
          <p:nvPr/>
        </p:nvSpPr>
        <p:spPr>
          <a:xfrm>
            <a:off x="6848856" y="3886200"/>
            <a:ext cx="1417320" cy="256032"/>
          </a:xfrm>
          <a:prstGeom prst="roundRect">
            <a:avLst>
              <a:gd name="adj" fmla="val 50000"/>
            </a:avLst>
          </a:prstGeom>
          <a:solidFill>
            <a:srgbClr val="EEEDFB"/>
          </a:solidFill>
          <a:ln w="12700">
            <a:solidFill>
              <a:srgbClr val="EEEDFB"/>
            </a:solidFill>
            <a:prstDash val="solid"/>
          </a:ln>
        </p:spPr>
      </p:sp>
      <p:sp>
        <p:nvSpPr>
          <p:cNvPr id="35" name="Text 33"/>
          <p:cNvSpPr txBox="1"/>
          <p:nvPr/>
        </p:nvSpPr>
        <p:spPr>
          <a:xfrm>
            <a:off x="6848856" y="3886200"/>
            <a:ext cx="1417320" cy="256032"/>
          </a:xfrm>
          <a:prstGeom prst="rect">
            <a:avLst/>
          </a:prstGeom>
          <a:noFill/>
          <a:ln/>
        </p:spPr>
        <p:txBody>
          <a:bodyPr wrap="square" lIns="0" tIns="0" rIns="0" bIns="0" rtlCol="0" anchor="ctr"/>
          <a:lstStyle/>
          <a:p>
            <a:pPr algn="ctr" indent="0" marL="0">
              <a:buNone/>
            </a:pPr>
            <a:r>
              <a:rPr lang="en-US" sz="1000" b="1" dirty="0">
                <a:solidFill>
                  <a:srgbClr val="5B4FCF"/>
                </a:solidFill>
              </a:rPr>
              <a:t>University groups</a:t>
            </a:r>
            <a:endParaRPr lang="en-US" sz="1000" dirty="0"/>
          </a:p>
        </p:txBody>
      </p:sp>
      <p:sp>
        <p:nvSpPr>
          <p:cNvPr id="36" name="Text 34"/>
          <p:cNvSpPr txBox="1"/>
          <p:nvPr/>
        </p:nvSpPr>
        <p:spPr>
          <a:xfrm>
            <a:off x="4160520" y="4233672"/>
            <a:ext cx="4389120" cy="228600"/>
          </a:xfrm>
          <a:prstGeom prst="rect">
            <a:avLst/>
          </a:prstGeom>
          <a:noFill/>
          <a:ln/>
        </p:spPr>
        <p:txBody>
          <a:bodyPr wrap="square" lIns="0" tIns="0" rIns="0" bIns="0" rtlCol="0" anchor="t"/>
          <a:lstStyle/>
          <a:p>
            <a:pPr indent="0" marL="0">
              <a:buNone/>
            </a:pPr>
            <a:r>
              <a:rPr lang="en-US" sz="1100" dirty="0">
                <a:solidFill>
                  <a:srgbClr val="6B7280"/>
                </a:solidFill>
              </a:rPr>
              <a:t>Also startups, agencies and any team working to deadlines</a:t>
            </a:r>
            <a:endParaRPr lang="en-US" sz="1100" dirty="0"/>
          </a:p>
        </p:txBody>
      </p:sp>
      <p:sp>
        <p:nvSpPr>
          <p:cNvPr id="37"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10" presetClass="entr" presetSubtype="0" fill="hold" nodeType="withEffect">
                                  <p:stCondLst>
                                    <p:cond delay="1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nodeType="withEffect">
                                  <p:stCondLst>
                                    <p:cond delay="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nodeType="withEffect">
                                  <p:stCondLst>
                                    <p:cond delay="1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nodeType="withEffect">
                                  <p:stCondLst>
                                    <p:cond delay="1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nodeType="withEffect">
                                  <p:stCondLst>
                                    <p:cond delay="1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nodeType="withEffect">
                                  <p:stCondLst>
                                    <p:cond delay="1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par>
                                <p:cTn id="32" presetID="10" presetClass="entr" presetSubtype="0" fill="hold" nodeType="withEffect">
                                  <p:stCondLst>
                                    <p:cond delay="1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10" presetClass="entr" presetSubtype="0" fill="hold" nodeType="withEffect">
                                  <p:stCondLst>
                                    <p:cond delay="15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50"/>
                                        <p:tgtEl>
                                          <p:spTgt spid="13"/>
                                        </p:tgtEl>
                                      </p:cBhvr>
                                    </p:animEffect>
                                  </p:childTnLst>
                                </p:cTn>
                              </p:par>
                              <p:par>
                                <p:cTn id="38" presetID="10" presetClass="entr" presetSubtype="0" fill="hold" nodeType="withEffect">
                                  <p:stCondLst>
                                    <p:cond delay="1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par>
                                <p:cTn id="41" presetID="10" presetClass="entr" presetSubtype="0" fill="hold" nodeType="withEffect">
                                  <p:stCondLst>
                                    <p:cond delay="15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50"/>
                                        <p:tgtEl>
                                          <p:spTgt spid="15"/>
                                        </p:tgtEl>
                                      </p:cBhvr>
                                    </p:animEffect>
                                  </p:childTnLst>
                                </p:cTn>
                              </p:par>
                              <p:par>
                                <p:cTn id="44" presetID="10" presetClass="entr" presetSubtype="0" fill="hold" nodeType="withEffect">
                                  <p:stCondLst>
                                    <p:cond delay="268"/>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50"/>
                                        <p:tgtEl>
                                          <p:spTgt spid="16"/>
                                        </p:tgtEl>
                                      </p:cBhvr>
                                    </p:animEffect>
                                  </p:childTnLst>
                                </p:cTn>
                              </p:par>
                              <p:par>
                                <p:cTn id="47" presetID="10" presetClass="entr" presetSubtype="0" fill="hold" nodeType="withEffect">
                                  <p:stCondLst>
                                    <p:cond delay="386"/>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childTnLst>
                                </p:cTn>
                              </p:par>
                              <p:par>
                                <p:cTn id="50" presetID="10" presetClass="entr" presetSubtype="0" fill="hold" nodeType="withEffect">
                                  <p:stCondLst>
                                    <p:cond delay="504"/>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par>
                                <p:cTn id="53" presetID="10" presetClass="entr" presetSubtype="0" fill="hold" nodeType="withEffect">
                                  <p:stCondLst>
                                    <p:cond delay="622"/>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nodeType="withEffect">
                                  <p:stCondLst>
                                    <p:cond delay="74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par>
                                <p:cTn id="59" presetID="10" presetClass="entr" presetSubtype="0" fill="hold" nodeType="withEffect">
                                  <p:stCondLst>
                                    <p:cond delay="858"/>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par>
                                <p:cTn id="62" presetID="10" presetClass="entr" presetSubtype="0" fill="hold" nodeType="withEffect">
                                  <p:stCondLst>
                                    <p:cond delay="976"/>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50"/>
                                        <p:tgtEl>
                                          <p:spTgt spid="22"/>
                                        </p:tgtEl>
                                      </p:cBhvr>
                                    </p:animEffect>
                                  </p:childTnLst>
                                </p:cTn>
                              </p:par>
                              <p:par>
                                <p:cTn id="65" presetID="10" presetClass="entr" presetSubtype="0" fill="hold" nodeType="withEffect">
                                  <p:stCondLst>
                                    <p:cond delay="1094"/>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50"/>
                                        <p:tgtEl>
                                          <p:spTgt spid="23"/>
                                        </p:tgtEl>
                                      </p:cBhvr>
                                    </p:animEffect>
                                  </p:childTnLst>
                                </p:cTn>
                              </p:par>
                              <p:par>
                                <p:cTn id="68" presetID="10" presetClass="entr" presetSubtype="0" fill="hold" nodeType="withEffect">
                                  <p:stCondLst>
                                    <p:cond delay="1212"/>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50"/>
                                        <p:tgtEl>
                                          <p:spTgt spid="24"/>
                                        </p:tgtEl>
                                      </p:cBhvr>
                                    </p:animEffect>
                                  </p:childTnLst>
                                </p:cTn>
                              </p:par>
                              <p:par>
                                <p:cTn id="71" presetID="10" presetClass="entr" presetSubtype="0" fill="hold" nodeType="withEffect">
                                  <p:stCondLst>
                                    <p:cond delay="133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50"/>
                                        <p:tgtEl>
                                          <p:spTgt spid="25"/>
                                        </p:tgtEl>
                                      </p:cBhvr>
                                    </p:animEffect>
                                  </p:childTnLst>
                                </p:cTn>
                              </p:par>
                              <p:par>
                                <p:cTn id="74" presetID="10" presetClass="entr" presetSubtype="0" fill="hold" nodeType="withEffect">
                                  <p:stCondLst>
                                    <p:cond delay="1448"/>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50"/>
                                        <p:tgtEl>
                                          <p:spTgt spid="26"/>
                                        </p:tgtEl>
                                      </p:cBhvr>
                                    </p:animEffect>
                                  </p:childTnLst>
                                </p:cTn>
                              </p:par>
                              <p:par>
                                <p:cTn id="77" presetID="10" presetClass="entr" presetSubtype="0" fill="hold" nodeType="withEffect">
                                  <p:stCondLst>
                                    <p:cond delay="1566"/>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50"/>
                                        <p:tgtEl>
                                          <p:spTgt spid="27"/>
                                        </p:tgtEl>
                                      </p:cBhvr>
                                    </p:animEffect>
                                  </p:childTnLst>
                                </p:cTn>
                              </p:par>
                              <p:par>
                                <p:cTn id="80" presetID="10" presetClass="entr" presetSubtype="0" fill="hold" nodeType="withEffect">
                                  <p:stCondLst>
                                    <p:cond delay="1684"/>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50"/>
                                        <p:tgtEl>
                                          <p:spTgt spid="28"/>
                                        </p:tgtEl>
                                      </p:cBhvr>
                                    </p:animEffect>
                                  </p:childTnLst>
                                </p:cTn>
                              </p:par>
                              <p:par>
                                <p:cTn id="83" presetID="10" presetClass="entr" presetSubtype="0" fill="hold" nodeType="withEffect">
                                  <p:stCondLst>
                                    <p:cond delay="1802"/>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50"/>
                                        <p:tgtEl>
                                          <p:spTgt spid="29"/>
                                        </p:tgtEl>
                                      </p:cBhvr>
                                    </p:animEffect>
                                  </p:childTnLst>
                                </p:cTn>
                              </p:par>
                              <p:par>
                                <p:cTn id="86" presetID="10" presetClass="entr" presetSubtype="0" fill="hold" nodeType="withEffect">
                                  <p:stCondLst>
                                    <p:cond delay="192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50"/>
                                        <p:tgtEl>
                                          <p:spTgt spid="30"/>
                                        </p:tgtEl>
                                      </p:cBhvr>
                                    </p:animEffect>
                                  </p:childTnLst>
                                </p:cTn>
                              </p:par>
                              <p:par>
                                <p:cTn id="89" presetID="10" presetClass="entr" presetSubtype="0" fill="hold" nodeType="withEffect">
                                  <p:stCondLst>
                                    <p:cond delay="2038"/>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50"/>
                                        <p:tgtEl>
                                          <p:spTgt spid="31"/>
                                        </p:tgtEl>
                                      </p:cBhvr>
                                    </p:animEffect>
                                  </p:childTnLst>
                                </p:cTn>
                              </p:par>
                              <p:par>
                                <p:cTn id="92" presetID="10" presetClass="entr" presetSubtype="0" fill="hold" nodeType="withEffect">
                                  <p:stCondLst>
                                    <p:cond delay="2156"/>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450"/>
                                        <p:tgtEl>
                                          <p:spTgt spid="32"/>
                                        </p:tgtEl>
                                      </p:cBhvr>
                                    </p:animEffect>
                                  </p:childTnLst>
                                </p:cTn>
                              </p:par>
                              <p:par>
                                <p:cTn id="95" presetID="10" presetClass="entr" presetSubtype="0" fill="hold" nodeType="withEffect">
                                  <p:stCondLst>
                                    <p:cond delay="2274"/>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450"/>
                                        <p:tgtEl>
                                          <p:spTgt spid="33"/>
                                        </p:tgtEl>
                                      </p:cBhvr>
                                    </p:animEffect>
                                  </p:childTnLst>
                                </p:cTn>
                              </p:par>
                              <p:par>
                                <p:cTn id="98" presetID="10" presetClass="entr" presetSubtype="0" fill="hold" nodeType="withEffect">
                                  <p:stCondLst>
                                    <p:cond delay="2392"/>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450"/>
                                        <p:tgtEl>
                                          <p:spTgt spid="34"/>
                                        </p:tgtEl>
                                      </p:cBhvr>
                                    </p:animEffect>
                                  </p:childTnLst>
                                </p:cTn>
                              </p:par>
                              <p:par>
                                <p:cTn id="101" presetID="10" presetClass="entr" presetSubtype="0" fill="hold" nodeType="withEffect">
                                  <p:stCondLst>
                                    <p:cond delay="251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450"/>
                                        <p:tgtEl>
                                          <p:spTgt spid="35"/>
                                        </p:tgtEl>
                                      </p:cBhvr>
                                    </p:animEffect>
                                  </p:childTnLst>
                                </p:cTn>
                              </p:par>
                              <p:par>
                                <p:cTn id="104" presetID="10" presetClass="entr" presetSubtype="0" fill="hold" nodeType="withEffect">
                                  <p:stCondLst>
                                    <p:cond delay="2628"/>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046720" cy="685800"/>
          </a:xfrm>
          <a:prstGeom prst="rect">
            <a:avLst/>
          </a:prstGeom>
          <a:noFill/>
          <a:ln/>
        </p:spPr>
        <p:txBody>
          <a:bodyPr wrap="square" lIns="0" tIns="0" rIns="0" bIns="0" rtlCol="0" anchor="ctr"/>
          <a:lstStyle/>
          <a:p>
            <a:pPr algn="l" indent="0" marL="0">
              <a:buNone/>
            </a:pPr>
            <a:r>
              <a:rPr lang="en-US" sz="2800" b="1" dirty="0">
                <a:solidFill>
                  <a:srgbClr val="1F2328"/>
                </a:solidFill>
              </a:rPr>
              <a:t>One workspace that spots risk early</a:t>
            </a:r>
            <a:endParaRPr lang="en-US" sz="2800" dirty="0"/>
          </a:p>
        </p:txBody>
      </p:sp>
      <p:sp>
        <p:nvSpPr>
          <p:cNvPr id="3" name="Text 1"/>
          <p:cNvSpPr txBox="1"/>
          <p:nvPr/>
        </p:nvSpPr>
        <p:spPr>
          <a:xfrm>
            <a:off x="548640" y="1024128"/>
            <a:ext cx="8046720" cy="411480"/>
          </a:xfrm>
          <a:prstGeom prst="rect">
            <a:avLst/>
          </a:prstGeom>
          <a:noFill/>
          <a:ln/>
        </p:spPr>
        <p:txBody>
          <a:bodyPr wrap="square" lIns="0" tIns="0" rIns="0" bIns="0" rtlCol="0" anchor="t"/>
          <a:lstStyle/>
          <a:p>
            <a:pPr indent="0" marL="0">
              <a:buNone/>
            </a:pPr>
            <a:r>
              <a:rPr lang="en-US" sz="1300" dirty="0">
                <a:solidFill>
                  <a:srgbClr val="6B7280"/>
                </a:solidFill>
              </a:rPr>
              <a:t>TeamPulse AI is a web app where leads assign work, members report progress, and AI flags tasks that may need support before the deadline.</a:t>
            </a:r>
            <a:endParaRPr lang="en-US" sz="1300" dirty="0"/>
          </a:p>
        </p:txBody>
      </p:sp>
      <p:sp>
        <p:nvSpPr>
          <p:cNvPr id="4" name="Shape 2"/>
          <p:cNvSpPr/>
          <p:nvPr/>
        </p:nvSpPr>
        <p:spPr>
          <a:xfrm>
            <a:off x="548640" y="1645920"/>
            <a:ext cx="1463040" cy="1417320"/>
          </a:xfrm>
          <a:prstGeom prst="roundRect">
            <a:avLst>
              <a:gd name="adj" fmla="val 5161"/>
            </a:avLst>
          </a:prstGeom>
          <a:solidFill>
            <a:srgbClr val="FFFFFF"/>
          </a:solidFill>
          <a:ln w="9525">
            <a:solidFill>
              <a:srgbClr val="E5E7EB"/>
            </a:solidFill>
            <a:prstDash val="solid"/>
          </a:ln>
          <a:effectLst>
            <a:outerShdw sx="100000" sy="100000" kx="0" ky="0" algn="bl" rotWithShape="0" blurRad="101600" dist="25400" dir="5400000">
              <a:srgbClr val="1F2328">
                <a:alpha val="6000"/>
              </a:srgbClr>
            </a:outerShdw>
          </a:effectLst>
        </p:spPr>
      </p:sp>
      <p:sp>
        <p:nvSpPr>
          <p:cNvPr id="5" name="Shape 3"/>
          <p:cNvSpPr/>
          <p:nvPr/>
        </p:nvSpPr>
        <p:spPr>
          <a:xfrm>
            <a:off x="713232" y="1810512"/>
            <a:ext cx="329184" cy="329184"/>
          </a:xfrm>
          <a:prstGeom prst="ellipse">
            <a:avLst/>
          </a:prstGeom>
          <a:solidFill>
            <a:srgbClr val="5B4FCF"/>
          </a:solidFill>
          <a:ln w="12700">
            <a:solidFill>
              <a:srgbClr val="5B4FCF"/>
            </a:solidFill>
            <a:prstDash val="solid"/>
          </a:ln>
        </p:spPr>
      </p:sp>
      <p:sp>
        <p:nvSpPr>
          <p:cNvPr id="6" name="Text 4"/>
          <p:cNvSpPr txBox="1"/>
          <p:nvPr/>
        </p:nvSpPr>
        <p:spPr>
          <a:xfrm>
            <a:off x="713232" y="1810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txBox="1"/>
          <p:nvPr/>
        </p:nvSpPr>
        <p:spPr>
          <a:xfrm>
            <a:off x="713232" y="2231136"/>
            <a:ext cx="1188720" cy="256032"/>
          </a:xfrm>
          <a:prstGeom prst="rect">
            <a:avLst/>
          </a:prstGeom>
          <a:noFill/>
          <a:ln/>
        </p:spPr>
        <p:txBody>
          <a:bodyPr wrap="square" lIns="0" tIns="0" rIns="0" bIns="0" rtlCol="0" anchor="t"/>
          <a:lstStyle/>
          <a:p>
            <a:pPr indent="0" marL="0">
              <a:buNone/>
            </a:pPr>
            <a:r>
              <a:rPr lang="en-US" sz="1400" b="1" dirty="0">
                <a:solidFill>
                  <a:srgbClr val="1F2328"/>
                </a:solidFill>
              </a:rPr>
              <a:t>Assign</a:t>
            </a:r>
            <a:endParaRPr lang="en-US" sz="1400" dirty="0"/>
          </a:p>
        </p:txBody>
      </p:sp>
      <p:sp>
        <p:nvSpPr>
          <p:cNvPr id="8" name="Text 6"/>
          <p:cNvSpPr txBox="1"/>
          <p:nvPr/>
        </p:nvSpPr>
        <p:spPr>
          <a:xfrm>
            <a:off x="713232" y="2505456"/>
            <a:ext cx="1188720" cy="502920"/>
          </a:xfrm>
          <a:prstGeom prst="rect">
            <a:avLst/>
          </a:prstGeom>
          <a:noFill/>
          <a:ln/>
        </p:spPr>
        <p:txBody>
          <a:bodyPr wrap="square" lIns="0" tIns="0" rIns="0" bIns="0" rtlCol="0" anchor="t"/>
          <a:lstStyle/>
          <a:p>
            <a:pPr indent="0" marL="0">
              <a:buNone/>
            </a:pPr>
            <a:r>
              <a:rPr lang="en-US" sz="1050" dirty="0">
                <a:solidFill>
                  <a:srgbClr val="6B7280"/>
                </a:solidFill>
              </a:rPr>
              <a:t>Lead creates tasks with owners, priority and deadlines</a:t>
            </a:r>
            <a:endParaRPr lang="en-US" sz="1050" dirty="0"/>
          </a:p>
        </p:txBody>
      </p:sp>
      <p:sp>
        <p:nvSpPr>
          <p:cNvPr id="9" name="Text 7"/>
          <p:cNvSpPr txBox="1"/>
          <p:nvPr/>
        </p:nvSpPr>
        <p:spPr>
          <a:xfrm>
            <a:off x="2011680" y="2148840"/>
            <a:ext cx="182880" cy="365760"/>
          </a:xfrm>
          <a:prstGeom prst="rect">
            <a:avLst/>
          </a:prstGeom>
          <a:noFill/>
          <a:ln/>
        </p:spPr>
        <p:txBody>
          <a:bodyPr wrap="square" lIns="0" tIns="0" rIns="0" bIns="0" rtlCol="0" anchor="ctr"/>
          <a:lstStyle/>
          <a:p>
            <a:pPr algn="ctr" indent="0" marL="0">
              <a:buNone/>
            </a:pPr>
            <a:r>
              <a:rPr lang="en-US" sz="1800" dirty="0">
                <a:solidFill>
                  <a:srgbClr val="6B7280"/>
                </a:solidFill>
              </a:rPr>
              <a:t>›</a:t>
            </a:r>
            <a:endParaRPr lang="en-US" sz="1800" dirty="0"/>
          </a:p>
        </p:txBody>
      </p:sp>
      <p:sp>
        <p:nvSpPr>
          <p:cNvPr id="10" name="Shape 8"/>
          <p:cNvSpPr/>
          <p:nvPr/>
        </p:nvSpPr>
        <p:spPr>
          <a:xfrm>
            <a:off x="2194560" y="1645920"/>
            <a:ext cx="1463040" cy="1417320"/>
          </a:xfrm>
          <a:prstGeom prst="roundRect">
            <a:avLst>
              <a:gd name="adj" fmla="val 5161"/>
            </a:avLst>
          </a:prstGeom>
          <a:solidFill>
            <a:srgbClr val="FFFFFF"/>
          </a:solidFill>
          <a:ln w="9525">
            <a:solidFill>
              <a:srgbClr val="E5E7EB"/>
            </a:solidFill>
            <a:prstDash val="solid"/>
          </a:ln>
          <a:effectLst>
            <a:outerShdw sx="100000" sy="100000" kx="0" ky="0" algn="bl" rotWithShape="0" blurRad="101600" dist="25400" dir="5400000">
              <a:srgbClr val="1F2328">
                <a:alpha val="6000"/>
              </a:srgbClr>
            </a:outerShdw>
          </a:effectLst>
        </p:spPr>
      </p:sp>
      <p:sp>
        <p:nvSpPr>
          <p:cNvPr id="11" name="Shape 9"/>
          <p:cNvSpPr/>
          <p:nvPr/>
        </p:nvSpPr>
        <p:spPr>
          <a:xfrm>
            <a:off x="2359152" y="1810512"/>
            <a:ext cx="329184" cy="329184"/>
          </a:xfrm>
          <a:prstGeom prst="ellipse">
            <a:avLst/>
          </a:prstGeom>
          <a:solidFill>
            <a:srgbClr val="5B4FCF"/>
          </a:solidFill>
          <a:ln w="12700">
            <a:solidFill>
              <a:srgbClr val="5B4FCF"/>
            </a:solidFill>
            <a:prstDash val="solid"/>
          </a:ln>
        </p:spPr>
      </p:sp>
      <p:sp>
        <p:nvSpPr>
          <p:cNvPr id="12" name="Text 10"/>
          <p:cNvSpPr txBox="1"/>
          <p:nvPr/>
        </p:nvSpPr>
        <p:spPr>
          <a:xfrm>
            <a:off x="2359152" y="1810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1"/>
          <p:cNvSpPr txBox="1"/>
          <p:nvPr/>
        </p:nvSpPr>
        <p:spPr>
          <a:xfrm>
            <a:off x="2359152" y="2231136"/>
            <a:ext cx="1188720" cy="256032"/>
          </a:xfrm>
          <a:prstGeom prst="rect">
            <a:avLst/>
          </a:prstGeom>
          <a:noFill/>
          <a:ln/>
        </p:spPr>
        <p:txBody>
          <a:bodyPr wrap="square" lIns="0" tIns="0" rIns="0" bIns="0" rtlCol="0" anchor="t"/>
          <a:lstStyle/>
          <a:p>
            <a:pPr indent="0" marL="0">
              <a:buNone/>
            </a:pPr>
            <a:r>
              <a:rPr lang="en-US" sz="1400" b="1" dirty="0">
                <a:solidFill>
                  <a:srgbClr val="1F2328"/>
                </a:solidFill>
              </a:rPr>
              <a:t>Notify</a:t>
            </a:r>
            <a:endParaRPr lang="en-US" sz="1400" dirty="0"/>
          </a:p>
        </p:txBody>
      </p:sp>
      <p:sp>
        <p:nvSpPr>
          <p:cNvPr id="14" name="Text 12"/>
          <p:cNvSpPr txBox="1"/>
          <p:nvPr/>
        </p:nvSpPr>
        <p:spPr>
          <a:xfrm>
            <a:off x="2359152" y="2505456"/>
            <a:ext cx="1188720" cy="502920"/>
          </a:xfrm>
          <a:prstGeom prst="rect">
            <a:avLst/>
          </a:prstGeom>
          <a:noFill/>
          <a:ln/>
        </p:spPr>
        <p:txBody>
          <a:bodyPr wrap="square" lIns="0" tIns="0" rIns="0" bIns="0" rtlCol="0" anchor="t"/>
          <a:lstStyle/>
          <a:p>
            <a:pPr indent="0" marL="0">
              <a:buNone/>
            </a:pPr>
            <a:r>
              <a:rPr lang="en-US" sz="1050" dirty="0">
                <a:solidFill>
                  <a:srgbClr val="6B7280"/>
                </a:solidFill>
              </a:rPr>
              <a:t>Members get WhatsApp and in-app alerts</a:t>
            </a:r>
            <a:endParaRPr lang="en-US" sz="1050" dirty="0"/>
          </a:p>
        </p:txBody>
      </p:sp>
      <p:sp>
        <p:nvSpPr>
          <p:cNvPr id="15" name="Text 13"/>
          <p:cNvSpPr txBox="1"/>
          <p:nvPr/>
        </p:nvSpPr>
        <p:spPr>
          <a:xfrm>
            <a:off x="3657600" y="2148840"/>
            <a:ext cx="182880" cy="365760"/>
          </a:xfrm>
          <a:prstGeom prst="rect">
            <a:avLst/>
          </a:prstGeom>
          <a:noFill/>
          <a:ln/>
        </p:spPr>
        <p:txBody>
          <a:bodyPr wrap="square" lIns="0" tIns="0" rIns="0" bIns="0" rtlCol="0" anchor="ctr"/>
          <a:lstStyle/>
          <a:p>
            <a:pPr algn="ctr" indent="0" marL="0">
              <a:buNone/>
            </a:pPr>
            <a:r>
              <a:rPr lang="en-US" sz="1800" dirty="0">
                <a:solidFill>
                  <a:srgbClr val="6B7280"/>
                </a:solidFill>
              </a:rPr>
              <a:t>›</a:t>
            </a:r>
            <a:endParaRPr lang="en-US" sz="1800" dirty="0"/>
          </a:p>
        </p:txBody>
      </p:sp>
      <p:sp>
        <p:nvSpPr>
          <p:cNvPr id="16" name="Shape 14"/>
          <p:cNvSpPr/>
          <p:nvPr/>
        </p:nvSpPr>
        <p:spPr>
          <a:xfrm>
            <a:off x="3840480" y="1645920"/>
            <a:ext cx="1463040" cy="1417320"/>
          </a:xfrm>
          <a:prstGeom prst="roundRect">
            <a:avLst>
              <a:gd name="adj" fmla="val 5161"/>
            </a:avLst>
          </a:prstGeom>
          <a:solidFill>
            <a:srgbClr val="FFFFFF"/>
          </a:solidFill>
          <a:ln w="9525">
            <a:solidFill>
              <a:srgbClr val="E5E7EB"/>
            </a:solidFill>
            <a:prstDash val="solid"/>
          </a:ln>
          <a:effectLst>
            <a:outerShdw sx="100000" sy="100000" kx="0" ky="0" algn="bl" rotWithShape="0" blurRad="101600" dist="25400" dir="5400000">
              <a:srgbClr val="1F2328">
                <a:alpha val="6000"/>
              </a:srgbClr>
            </a:outerShdw>
          </a:effectLst>
        </p:spPr>
      </p:sp>
      <p:sp>
        <p:nvSpPr>
          <p:cNvPr id="17" name="Shape 15"/>
          <p:cNvSpPr/>
          <p:nvPr/>
        </p:nvSpPr>
        <p:spPr>
          <a:xfrm>
            <a:off x="4005072" y="1810512"/>
            <a:ext cx="329184" cy="329184"/>
          </a:xfrm>
          <a:prstGeom prst="ellipse">
            <a:avLst/>
          </a:prstGeom>
          <a:solidFill>
            <a:srgbClr val="5B4FCF"/>
          </a:solidFill>
          <a:ln w="12700">
            <a:solidFill>
              <a:srgbClr val="5B4FCF"/>
            </a:solidFill>
            <a:prstDash val="solid"/>
          </a:ln>
        </p:spPr>
      </p:sp>
      <p:sp>
        <p:nvSpPr>
          <p:cNvPr id="18" name="Text 16"/>
          <p:cNvSpPr txBox="1"/>
          <p:nvPr/>
        </p:nvSpPr>
        <p:spPr>
          <a:xfrm>
            <a:off x="4005072" y="1810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9" name="Text 17"/>
          <p:cNvSpPr txBox="1"/>
          <p:nvPr/>
        </p:nvSpPr>
        <p:spPr>
          <a:xfrm>
            <a:off x="4005072" y="2231136"/>
            <a:ext cx="1188720" cy="256032"/>
          </a:xfrm>
          <a:prstGeom prst="rect">
            <a:avLst/>
          </a:prstGeom>
          <a:noFill/>
          <a:ln/>
        </p:spPr>
        <p:txBody>
          <a:bodyPr wrap="square" lIns="0" tIns="0" rIns="0" bIns="0" rtlCol="0" anchor="t"/>
          <a:lstStyle/>
          <a:p>
            <a:pPr indent="0" marL="0">
              <a:buNone/>
            </a:pPr>
            <a:r>
              <a:rPr lang="en-US" sz="1400" b="1" dirty="0">
                <a:solidFill>
                  <a:srgbClr val="1F2328"/>
                </a:solidFill>
              </a:rPr>
              <a:t>Check in</a:t>
            </a:r>
            <a:endParaRPr lang="en-US" sz="1400" dirty="0"/>
          </a:p>
        </p:txBody>
      </p:sp>
      <p:sp>
        <p:nvSpPr>
          <p:cNvPr id="20" name="Text 18"/>
          <p:cNvSpPr txBox="1"/>
          <p:nvPr/>
        </p:nvSpPr>
        <p:spPr>
          <a:xfrm>
            <a:off x="4005072" y="2505456"/>
            <a:ext cx="1188720" cy="502920"/>
          </a:xfrm>
          <a:prstGeom prst="rect">
            <a:avLst/>
          </a:prstGeom>
          <a:noFill/>
          <a:ln/>
        </p:spPr>
        <p:txBody>
          <a:bodyPr wrap="square" lIns="0" tIns="0" rIns="0" bIns="0" rtlCol="0" anchor="t"/>
          <a:lstStyle/>
          <a:p>
            <a:pPr indent="0" marL="0">
              <a:buNone/>
            </a:pPr>
            <a:r>
              <a:rPr lang="en-US" sz="1050" dirty="0">
                <a:solidFill>
                  <a:srgbClr val="6B7280"/>
                </a:solidFill>
              </a:rPr>
              <a:t>Members share progress, blockers and submissions</a:t>
            </a:r>
            <a:endParaRPr lang="en-US" sz="1050" dirty="0"/>
          </a:p>
        </p:txBody>
      </p:sp>
      <p:sp>
        <p:nvSpPr>
          <p:cNvPr id="21" name="Text 19"/>
          <p:cNvSpPr txBox="1"/>
          <p:nvPr/>
        </p:nvSpPr>
        <p:spPr>
          <a:xfrm>
            <a:off x="5303520" y="2148840"/>
            <a:ext cx="182880" cy="365760"/>
          </a:xfrm>
          <a:prstGeom prst="rect">
            <a:avLst/>
          </a:prstGeom>
          <a:noFill/>
          <a:ln/>
        </p:spPr>
        <p:txBody>
          <a:bodyPr wrap="square" lIns="0" tIns="0" rIns="0" bIns="0" rtlCol="0" anchor="ctr"/>
          <a:lstStyle/>
          <a:p>
            <a:pPr algn="ctr" indent="0" marL="0">
              <a:buNone/>
            </a:pPr>
            <a:r>
              <a:rPr lang="en-US" sz="1800" dirty="0">
                <a:solidFill>
                  <a:srgbClr val="6B7280"/>
                </a:solidFill>
              </a:rPr>
              <a:t>›</a:t>
            </a:r>
            <a:endParaRPr lang="en-US" sz="1800" dirty="0"/>
          </a:p>
        </p:txBody>
      </p:sp>
      <p:sp>
        <p:nvSpPr>
          <p:cNvPr id="22" name="Shape 20"/>
          <p:cNvSpPr/>
          <p:nvPr/>
        </p:nvSpPr>
        <p:spPr>
          <a:xfrm>
            <a:off x="5486400" y="1645920"/>
            <a:ext cx="1463040" cy="1417320"/>
          </a:xfrm>
          <a:prstGeom prst="roundRect">
            <a:avLst>
              <a:gd name="adj" fmla="val 5161"/>
            </a:avLst>
          </a:prstGeom>
          <a:solidFill>
            <a:srgbClr val="5B4FCF"/>
          </a:solidFill>
          <a:ln w="9525">
            <a:solidFill>
              <a:srgbClr val="5B4FCF"/>
            </a:solidFill>
            <a:prstDash val="solid"/>
          </a:ln>
          <a:effectLst>
            <a:outerShdw sx="100000" sy="100000" kx="0" ky="0" algn="bl" rotWithShape="0" blurRad="101600" dist="25400" dir="5400000">
              <a:srgbClr val="1F2328">
                <a:alpha val="6000"/>
              </a:srgbClr>
            </a:outerShdw>
          </a:effectLst>
        </p:spPr>
      </p:sp>
      <p:sp>
        <p:nvSpPr>
          <p:cNvPr id="23" name="Shape 21"/>
          <p:cNvSpPr/>
          <p:nvPr/>
        </p:nvSpPr>
        <p:spPr>
          <a:xfrm>
            <a:off x="5650992" y="1810512"/>
            <a:ext cx="329184" cy="329184"/>
          </a:xfrm>
          <a:prstGeom prst="ellipse">
            <a:avLst/>
          </a:prstGeom>
          <a:solidFill>
            <a:srgbClr val="7C72E0"/>
          </a:solidFill>
          <a:ln w="12700">
            <a:solidFill>
              <a:srgbClr val="7C72E0"/>
            </a:solidFill>
            <a:prstDash val="solid"/>
          </a:ln>
        </p:spPr>
      </p:sp>
      <p:sp>
        <p:nvSpPr>
          <p:cNvPr id="24" name="Text 22"/>
          <p:cNvSpPr txBox="1"/>
          <p:nvPr/>
        </p:nvSpPr>
        <p:spPr>
          <a:xfrm>
            <a:off x="5650992" y="1810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5" name="Text 23"/>
          <p:cNvSpPr txBox="1"/>
          <p:nvPr/>
        </p:nvSpPr>
        <p:spPr>
          <a:xfrm>
            <a:off x="5650992" y="2231136"/>
            <a:ext cx="1188720" cy="256032"/>
          </a:xfrm>
          <a:prstGeom prst="rect">
            <a:avLst/>
          </a:prstGeom>
          <a:noFill/>
          <a:ln/>
        </p:spPr>
        <p:txBody>
          <a:bodyPr wrap="square" lIns="0" tIns="0" rIns="0" bIns="0" rtlCol="0" anchor="t"/>
          <a:lstStyle/>
          <a:p>
            <a:pPr indent="0" marL="0">
              <a:buNone/>
            </a:pPr>
            <a:r>
              <a:rPr lang="en-US" sz="1400" b="1" dirty="0">
                <a:solidFill>
                  <a:srgbClr val="FFFFFF"/>
                </a:solidFill>
              </a:rPr>
              <a:t>Detect</a:t>
            </a:r>
            <a:endParaRPr lang="en-US" sz="1400" dirty="0"/>
          </a:p>
        </p:txBody>
      </p:sp>
      <p:sp>
        <p:nvSpPr>
          <p:cNvPr id="26" name="Text 24"/>
          <p:cNvSpPr txBox="1"/>
          <p:nvPr/>
        </p:nvSpPr>
        <p:spPr>
          <a:xfrm>
            <a:off x="5650992" y="2505456"/>
            <a:ext cx="1188720" cy="502920"/>
          </a:xfrm>
          <a:prstGeom prst="rect">
            <a:avLst/>
          </a:prstGeom>
          <a:noFill/>
          <a:ln/>
        </p:spPr>
        <p:txBody>
          <a:bodyPr wrap="square" lIns="0" tIns="0" rIns="0" bIns="0" rtlCol="0" anchor="t"/>
          <a:lstStyle/>
          <a:p>
            <a:pPr indent="0" marL="0">
              <a:buNone/>
            </a:pPr>
            <a:r>
              <a:rPr lang="en-US" sz="1050" dirty="0">
                <a:solidFill>
                  <a:srgbClr val="E6E4FA"/>
                </a:solidFill>
              </a:rPr>
              <a:t>AI compares reported progress with real task activity</a:t>
            </a:r>
            <a:endParaRPr lang="en-US" sz="1050" dirty="0"/>
          </a:p>
        </p:txBody>
      </p:sp>
      <p:sp>
        <p:nvSpPr>
          <p:cNvPr id="27" name="Text 25"/>
          <p:cNvSpPr txBox="1"/>
          <p:nvPr/>
        </p:nvSpPr>
        <p:spPr>
          <a:xfrm>
            <a:off x="6949440" y="2148840"/>
            <a:ext cx="182880" cy="365760"/>
          </a:xfrm>
          <a:prstGeom prst="rect">
            <a:avLst/>
          </a:prstGeom>
          <a:noFill/>
          <a:ln/>
        </p:spPr>
        <p:txBody>
          <a:bodyPr wrap="square" lIns="0" tIns="0" rIns="0" bIns="0" rtlCol="0" anchor="ctr"/>
          <a:lstStyle/>
          <a:p>
            <a:pPr algn="ctr" indent="0" marL="0">
              <a:buNone/>
            </a:pPr>
            <a:r>
              <a:rPr lang="en-US" sz="1800" dirty="0">
                <a:solidFill>
                  <a:srgbClr val="6B7280"/>
                </a:solidFill>
              </a:rPr>
              <a:t>›</a:t>
            </a:r>
            <a:endParaRPr lang="en-US" sz="1800" dirty="0"/>
          </a:p>
        </p:txBody>
      </p:sp>
      <p:sp>
        <p:nvSpPr>
          <p:cNvPr id="28" name="Shape 26"/>
          <p:cNvSpPr/>
          <p:nvPr/>
        </p:nvSpPr>
        <p:spPr>
          <a:xfrm>
            <a:off x="7132320" y="1645920"/>
            <a:ext cx="1463040" cy="1417320"/>
          </a:xfrm>
          <a:prstGeom prst="roundRect">
            <a:avLst>
              <a:gd name="adj" fmla="val 5161"/>
            </a:avLst>
          </a:prstGeom>
          <a:solidFill>
            <a:srgbClr val="FFFFFF"/>
          </a:solidFill>
          <a:ln w="9525">
            <a:solidFill>
              <a:srgbClr val="E5E7EB"/>
            </a:solidFill>
            <a:prstDash val="solid"/>
          </a:ln>
          <a:effectLst>
            <a:outerShdw sx="100000" sy="100000" kx="0" ky="0" algn="bl" rotWithShape="0" blurRad="101600" dist="25400" dir="5400000">
              <a:srgbClr val="1F2328">
                <a:alpha val="6000"/>
              </a:srgbClr>
            </a:outerShdw>
          </a:effectLst>
        </p:spPr>
      </p:sp>
      <p:sp>
        <p:nvSpPr>
          <p:cNvPr id="29" name="Shape 27"/>
          <p:cNvSpPr/>
          <p:nvPr/>
        </p:nvSpPr>
        <p:spPr>
          <a:xfrm>
            <a:off x="7296912" y="1810512"/>
            <a:ext cx="329184" cy="329184"/>
          </a:xfrm>
          <a:prstGeom prst="ellipse">
            <a:avLst/>
          </a:prstGeom>
          <a:solidFill>
            <a:srgbClr val="5B4FCF"/>
          </a:solidFill>
          <a:ln w="12700">
            <a:solidFill>
              <a:srgbClr val="5B4FCF"/>
            </a:solidFill>
            <a:prstDash val="solid"/>
          </a:ln>
        </p:spPr>
      </p:sp>
      <p:sp>
        <p:nvSpPr>
          <p:cNvPr id="30" name="Text 28"/>
          <p:cNvSpPr txBox="1"/>
          <p:nvPr/>
        </p:nvSpPr>
        <p:spPr>
          <a:xfrm>
            <a:off x="7296912" y="1810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1" name="Text 29"/>
          <p:cNvSpPr txBox="1"/>
          <p:nvPr/>
        </p:nvSpPr>
        <p:spPr>
          <a:xfrm>
            <a:off x="7296912" y="2231136"/>
            <a:ext cx="1188720" cy="256032"/>
          </a:xfrm>
          <a:prstGeom prst="rect">
            <a:avLst/>
          </a:prstGeom>
          <a:noFill/>
          <a:ln/>
        </p:spPr>
        <p:txBody>
          <a:bodyPr wrap="square" lIns="0" tIns="0" rIns="0" bIns="0" rtlCol="0" anchor="t"/>
          <a:lstStyle/>
          <a:p>
            <a:pPr indent="0" marL="0">
              <a:buNone/>
            </a:pPr>
            <a:r>
              <a:rPr lang="en-US" sz="1400" b="1" dirty="0">
                <a:solidFill>
                  <a:srgbClr val="1F2328"/>
                </a:solidFill>
              </a:rPr>
              <a:t>Support</a:t>
            </a:r>
            <a:endParaRPr lang="en-US" sz="1400" dirty="0"/>
          </a:p>
        </p:txBody>
      </p:sp>
      <p:sp>
        <p:nvSpPr>
          <p:cNvPr id="32" name="Text 30"/>
          <p:cNvSpPr txBox="1"/>
          <p:nvPr/>
        </p:nvSpPr>
        <p:spPr>
          <a:xfrm>
            <a:off x="7296912" y="2505456"/>
            <a:ext cx="1188720" cy="502920"/>
          </a:xfrm>
          <a:prstGeom prst="rect">
            <a:avLst/>
          </a:prstGeom>
          <a:noFill/>
          <a:ln/>
        </p:spPr>
        <p:txBody>
          <a:bodyPr wrap="square" lIns="0" tIns="0" rIns="0" bIns="0" rtlCol="0" anchor="t"/>
          <a:lstStyle/>
          <a:p>
            <a:pPr indent="0" marL="0">
              <a:buNone/>
            </a:pPr>
            <a:r>
              <a:rPr lang="en-US" sz="1050" dirty="0">
                <a:solidFill>
                  <a:srgbClr val="6B7280"/>
                </a:solidFill>
              </a:rPr>
              <a:t>Lead sends a friendly, reviewed check-in message</a:t>
            </a:r>
            <a:endParaRPr lang="en-US" sz="1050" dirty="0"/>
          </a:p>
        </p:txBody>
      </p:sp>
      <p:sp>
        <p:nvSpPr>
          <p:cNvPr id="33" name="Shape 31"/>
          <p:cNvSpPr/>
          <p:nvPr/>
        </p:nvSpPr>
        <p:spPr>
          <a:xfrm>
            <a:off x="548640" y="3291840"/>
            <a:ext cx="8046720" cy="1234440"/>
          </a:xfrm>
          <a:prstGeom prst="roundRect">
            <a:avLst>
              <a:gd name="adj" fmla="val 5926"/>
            </a:avLst>
          </a:prstGeom>
          <a:solidFill>
            <a:srgbClr val="FBF1DF"/>
          </a:solidFill>
          <a:ln w="9525">
            <a:solidFill>
              <a:srgbClr val="F1DFB5"/>
            </a:solidFill>
            <a:prstDash val="solid"/>
          </a:ln>
        </p:spPr>
      </p:sp>
      <p:sp>
        <p:nvSpPr>
          <p:cNvPr id="34" name="Text 32"/>
          <p:cNvSpPr txBox="1"/>
          <p:nvPr/>
        </p:nvSpPr>
        <p:spPr>
          <a:xfrm>
            <a:off x="777240" y="3429000"/>
            <a:ext cx="3657600" cy="201168"/>
          </a:xfrm>
          <a:prstGeom prst="rect">
            <a:avLst/>
          </a:prstGeom>
          <a:noFill/>
          <a:ln/>
        </p:spPr>
        <p:txBody>
          <a:bodyPr wrap="square" lIns="0" tIns="0" rIns="0" bIns="0" rtlCol="0" anchor="t"/>
          <a:lstStyle/>
          <a:p>
            <a:pPr indent="0" marL="0">
              <a:buNone/>
            </a:pPr>
            <a:r>
              <a:rPr lang="en-US" sz="900" b="1" spc="200" kern="0" dirty="0">
                <a:solidFill>
                  <a:srgbClr val="8A5A12"/>
                </a:solidFill>
              </a:rPr>
              <a:t>EXAMPLE INSIGHT · ILLUSTRATIVE</a:t>
            </a:r>
            <a:endParaRPr lang="en-US" sz="900" dirty="0"/>
          </a:p>
        </p:txBody>
      </p:sp>
      <p:sp>
        <p:nvSpPr>
          <p:cNvPr id="35" name="Text 33"/>
          <p:cNvSpPr txBox="1"/>
          <p:nvPr/>
        </p:nvSpPr>
        <p:spPr>
          <a:xfrm>
            <a:off x="777240" y="3657600"/>
            <a:ext cx="4023360" cy="274320"/>
          </a:xfrm>
          <a:prstGeom prst="rect">
            <a:avLst/>
          </a:prstGeom>
          <a:noFill/>
          <a:ln/>
        </p:spPr>
        <p:txBody>
          <a:bodyPr wrap="square" lIns="0" tIns="0" rIns="0" bIns="0" rtlCol="0" anchor="t"/>
          <a:lstStyle/>
          <a:p>
            <a:pPr indent="0" marL="0">
              <a:buNone/>
            </a:pPr>
            <a:r>
              <a:rPr lang="en-US" sz="1400" b="1" dirty="0">
                <a:solidFill>
                  <a:srgbClr val="1F2328"/>
                </a:solidFill>
              </a:rPr>
              <a:t>Payment integration: potential deadline risk</a:t>
            </a:r>
            <a:endParaRPr lang="en-US" sz="1400" dirty="0"/>
          </a:p>
        </p:txBody>
      </p:sp>
      <p:sp>
        <p:nvSpPr>
          <p:cNvPr id="36" name="Text 34"/>
          <p:cNvSpPr txBox="1"/>
          <p:nvPr/>
        </p:nvSpPr>
        <p:spPr>
          <a:xfrm>
            <a:off x="777240" y="3959352"/>
            <a:ext cx="4023360" cy="411480"/>
          </a:xfrm>
          <a:prstGeom prst="rect">
            <a:avLst/>
          </a:prstGeom>
          <a:noFill/>
          <a:ln/>
        </p:spPr>
        <p:txBody>
          <a:bodyPr wrap="square" lIns="0" tIns="0" rIns="0" bIns="0" rtlCol="0" anchor="t"/>
          <a:lstStyle/>
          <a:p>
            <a:pPr indent="0" marL="0">
              <a:buNone/>
            </a:pPr>
            <a:r>
              <a:rPr lang="en-US" sz="1100" dirty="0">
                <a:solidFill>
                  <a:srgbClr val="6B7280"/>
                </a:solidFill>
              </a:rPr>
              <a:t>Reported 90% · no meaningful update for 3 days · deadline approaching</a:t>
            </a:r>
            <a:endParaRPr lang="en-US" sz="1100" dirty="0"/>
          </a:p>
        </p:txBody>
      </p:sp>
      <p:sp>
        <p:nvSpPr>
          <p:cNvPr id="37" name="Shape 35"/>
          <p:cNvSpPr/>
          <p:nvPr/>
        </p:nvSpPr>
        <p:spPr>
          <a:xfrm>
            <a:off x="5029200" y="3456432"/>
            <a:ext cx="3383280" cy="914400"/>
          </a:xfrm>
          <a:prstGeom prst="roundRect">
            <a:avLst>
              <a:gd name="adj" fmla="val 8000"/>
            </a:avLst>
          </a:prstGeom>
          <a:solidFill>
            <a:srgbClr val="FFFFFF"/>
          </a:solidFill>
          <a:ln w="9525">
            <a:solidFill>
              <a:srgbClr val="E5E7EB"/>
            </a:solidFill>
            <a:prstDash val="solid"/>
          </a:ln>
        </p:spPr>
      </p:sp>
      <p:sp>
        <p:nvSpPr>
          <p:cNvPr id="38" name="Text 36"/>
          <p:cNvSpPr txBox="1"/>
          <p:nvPr/>
        </p:nvSpPr>
        <p:spPr>
          <a:xfrm>
            <a:off x="5193792" y="3547872"/>
            <a:ext cx="3108960" cy="201168"/>
          </a:xfrm>
          <a:prstGeom prst="rect">
            <a:avLst/>
          </a:prstGeom>
          <a:noFill/>
          <a:ln/>
        </p:spPr>
        <p:txBody>
          <a:bodyPr wrap="square" lIns="0" tIns="0" rIns="0" bIns="0" rtlCol="0" anchor="t"/>
          <a:lstStyle/>
          <a:p>
            <a:pPr indent="0" marL="0">
              <a:buNone/>
            </a:pPr>
            <a:r>
              <a:rPr lang="en-US" sz="950" b="1" dirty="0">
                <a:solidFill>
                  <a:srgbClr val="5B4FCF"/>
                </a:solidFill>
              </a:rPr>
              <a:t>Suggested message for the lead</a:t>
            </a:r>
            <a:endParaRPr lang="en-US" sz="950" dirty="0"/>
          </a:p>
        </p:txBody>
      </p:sp>
      <p:sp>
        <p:nvSpPr>
          <p:cNvPr id="39" name="Text 37"/>
          <p:cNvSpPr txBox="1"/>
          <p:nvPr/>
        </p:nvSpPr>
        <p:spPr>
          <a:xfrm>
            <a:off x="5193792" y="3767328"/>
            <a:ext cx="3108960" cy="548640"/>
          </a:xfrm>
          <a:prstGeom prst="rect">
            <a:avLst/>
          </a:prstGeom>
          <a:noFill/>
          <a:ln/>
        </p:spPr>
        <p:txBody>
          <a:bodyPr wrap="square" lIns="0" tIns="0" rIns="0" bIns="0" rtlCol="0" anchor="t"/>
          <a:lstStyle/>
          <a:p>
            <a:pPr indent="0" marL="0">
              <a:buNone/>
            </a:pPr>
            <a:r>
              <a:rPr lang="en-US" sz="1150" i="1" dirty="0">
                <a:solidFill>
                  <a:srgbClr val="1F2328"/>
                </a:solidFill>
              </a:rPr>
              <a:t>“Is anything blocking this task? Happy to work through it together.”</a:t>
            </a:r>
            <a:endParaRPr lang="en-US" sz="1150" dirty="0"/>
          </a:p>
        </p:txBody>
      </p:sp>
      <p:sp>
        <p:nvSpPr>
          <p:cNvPr id="40"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8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10" presetClass="entr" presetSubtype="0" fill="hold" nodeType="withEffect">
                                  <p:stCondLst>
                                    <p:cond delay="38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nodeType="withEffect">
                                  <p:stCondLst>
                                    <p:cond delay="38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nodeType="withEffect">
                                  <p:stCondLst>
                                    <p:cond delay="38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nodeType="withEffect">
                                  <p:stCondLst>
                                    <p:cond delay="38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nodeType="withEffect">
                                  <p:stCondLst>
                                    <p:cond delay="61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nodeType="withEffect">
                                  <p:stCondLst>
                                    <p:cond delay="61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nodeType="withEffect">
                                  <p:stCondLst>
                                    <p:cond delay="61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nodeType="withEffect">
                                  <p:stCondLst>
                                    <p:cond delay="61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nodeType="withEffect">
                                  <p:stCondLst>
                                    <p:cond delay="61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nodeType="withEffect">
                                  <p:stCondLst>
                                    <p:cond delay="8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nodeType="withEffect">
                                  <p:stCondLst>
                                    <p:cond delay="84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par>
                                <p:cTn id="44" presetID="10" presetClass="entr" presetSubtype="0" fill="hold" nodeType="withEffect">
                                  <p:stCondLst>
                                    <p:cond delay="84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50"/>
                                        <p:tgtEl>
                                          <p:spTgt spid="18"/>
                                        </p:tgtEl>
                                      </p:cBhvr>
                                    </p:animEffect>
                                  </p:childTnLst>
                                </p:cTn>
                              </p:par>
                              <p:par>
                                <p:cTn id="47" presetID="10" presetClass="entr" presetSubtype="0" fill="hold" nodeType="withEffect">
                                  <p:stCondLst>
                                    <p:cond delay="84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par>
                                <p:cTn id="50" presetID="10" presetClass="entr" presetSubtype="0" fill="hold" nodeType="withEffect">
                                  <p:stCondLst>
                                    <p:cond delay="84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50"/>
                                        <p:tgtEl>
                                          <p:spTgt spid="20"/>
                                        </p:tgtEl>
                                      </p:cBhvr>
                                    </p:animEffect>
                                  </p:childTnLst>
                                </p:cTn>
                              </p:par>
                              <p:par>
                                <p:cTn id="53" presetID="10" presetClass="entr" presetSubtype="0" fill="hold" nodeType="withEffect">
                                  <p:stCondLst>
                                    <p:cond delay="107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nodeType="withEffect">
                                  <p:stCondLst>
                                    <p:cond delay="107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par>
                                <p:cTn id="59" presetID="10" presetClass="entr" presetSubtype="0" fill="hold" nodeType="withEffect">
                                  <p:stCondLst>
                                    <p:cond delay="107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107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107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130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50"/>
                                        <p:tgtEl>
                                          <p:spTgt spid="28"/>
                                        </p:tgtEl>
                                      </p:cBhvr>
                                    </p:animEffect>
                                  </p:childTnLst>
                                </p:cTn>
                              </p:par>
                              <p:par>
                                <p:cTn id="71" presetID="10" presetClass="entr" presetSubtype="0" fill="hold" nodeType="withEffect">
                                  <p:stCondLst>
                                    <p:cond delay="130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nodeType="withEffect">
                                  <p:stCondLst>
                                    <p:cond delay="130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nodeType="withEffect">
                                  <p:stCondLst>
                                    <p:cond delay="130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par>
                                <p:cTn id="80" presetID="10" presetClass="entr" presetSubtype="0" fill="hold" nodeType="withEffect">
                                  <p:stCondLst>
                                    <p:cond delay="130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450"/>
                                        <p:tgtEl>
                                          <p:spTgt spid="32"/>
                                        </p:tgtEl>
                                      </p:cBhvr>
                                    </p:animEffect>
                                  </p:childTnLst>
                                </p:cTn>
                              </p:par>
                              <p:par>
                                <p:cTn id="83" presetID="10" presetClass="entr" presetSubtype="0" fill="hold" nodeType="withEffect">
                                  <p:stCondLst>
                                    <p:cond delay="1530"/>
                                  </p:stCondLst>
                                  <p:childTnLst>
                                    <p:set>
                                      <p:cBhvr>
                                        <p:cTn id="84" dur="1" fill="hold">
                                          <p:stCondLst>
                                            <p:cond delay="0"/>
                                          </p:stCondLst>
                                        </p:cTn>
                                        <p:tgtEl>
                                          <p:spTgt spid="9"/>
                                        </p:tgtEl>
                                        <p:attrNameLst>
                                          <p:attrName>style.visibility</p:attrName>
                                        </p:attrNameLst>
                                      </p:cBhvr>
                                      <p:to>
                                        <p:strVal val="visible"/>
                                      </p:to>
                                    </p:set>
                                    <p:animEffect transition="in" filter="fade">
                                      <p:cBhvr>
                                        <p:cTn id="85" dur="450"/>
                                        <p:tgtEl>
                                          <p:spTgt spid="9"/>
                                        </p:tgtEl>
                                      </p:cBhvr>
                                    </p:animEffect>
                                  </p:childTnLst>
                                </p:cTn>
                              </p:par>
                              <p:par>
                                <p:cTn id="86" presetID="10" presetClass="entr" presetSubtype="0" fill="hold" nodeType="withEffect">
                                  <p:stCondLst>
                                    <p:cond delay="1760"/>
                                  </p:stCondLst>
                                  <p:childTnLst>
                                    <p:set>
                                      <p:cBhvr>
                                        <p:cTn id="87" dur="1" fill="hold">
                                          <p:stCondLst>
                                            <p:cond delay="0"/>
                                          </p:stCondLst>
                                        </p:cTn>
                                        <p:tgtEl>
                                          <p:spTgt spid="15"/>
                                        </p:tgtEl>
                                        <p:attrNameLst>
                                          <p:attrName>style.visibility</p:attrName>
                                        </p:attrNameLst>
                                      </p:cBhvr>
                                      <p:to>
                                        <p:strVal val="visible"/>
                                      </p:to>
                                    </p:set>
                                    <p:animEffect transition="in" filter="fade">
                                      <p:cBhvr>
                                        <p:cTn id="88" dur="450"/>
                                        <p:tgtEl>
                                          <p:spTgt spid="15"/>
                                        </p:tgtEl>
                                      </p:cBhvr>
                                    </p:animEffect>
                                  </p:childTnLst>
                                </p:cTn>
                              </p:par>
                              <p:par>
                                <p:cTn id="89" presetID="10" presetClass="entr" presetSubtype="0" fill="hold" nodeType="withEffect">
                                  <p:stCondLst>
                                    <p:cond delay="199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450"/>
                                        <p:tgtEl>
                                          <p:spTgt spid="21"/>
                                        </p:tgtEl>
                                      </p:cBhvr>
                                    </p:animEffect>
                                  </p:childTnLst>
                                </p:cTn>
                              </p:par>
                              <p:par>
                                <p:cTn id="92" presetID="10" presetClass="entr" presetSubtype="0" fill="hold" nodeType="withEffect">
                                  <p:stCondLst>
                                    <p:cond delay="2220"/>
                                  </p:stCondLst>
                                  <p:childTnLst>
                                    <p:set>
                                      <p:cBhvr>
                                        <p:cTn id="93" dur="1" fill="hold">
                                          <p:stCondLst>
                                            <p:cond delay="0"/>
                                          </p:stCondLst>
                                        </p:cTn>
                                        <p:tgtEl>
                                          <p:spTgt spid="27"/>
                                        </p:tgtEl>
                                        <p:attrNameLst>
                                          <p:attrName>style.visibility</p:attrName>
                                        </p:attrNameLst>
                                      </p:cBhvr>
                                      <p:to>
                                        <p:strVal val="visible"/>
                                      </p:to>
                                    </p:set>
                                    <p:animEffect transition="in" filter="fade">
                                      <p:cBhvr>
                                        <p:cTn id="94" dur="450"/>
                                        <p:tgtEl>
                                          <p:spTgt spid="27"/>
                                        </p:tgtEl>
                                      </p:cBhvr>
                                    </p:animEffect>
                                  </p:childTnLst>
                                </p:cTn>
                              </p:par>
                              <p:par>
                                <p:cTn id="95" presetID="10" presetClass="entr" presetSubtype="0" fill="hold" nodeType="withEffect">
                                  <p:stCondLst>
                                    <p:cond delay="245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450"/>
                                        <p:tgtEl>
                                          <p:spTgt spid="33"/>
                                        </p:tgtEl>
                                      </p:cBhvr>
                                    </p:animEffect>
                                  </p:childTnLst>
                                </p:cTn>
                              </p:par>
                              <p:par>
                                <p:cTn id="98" presetID="10" presetClass="entr" presetSubtype="0" fill="hold" nodeType="withEffect">
                                  <p:stCondLst>
                                    <p:cond delay="245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450"/>
                                        <p:tgtEl>
                                          <p:spTgt spid="34"/>
                                        </p:tgtEl>
                                      </p:cBhvr>
                                    </p:animEffect>
                                  </p:childTnLst>
                                </p:cTn>
                              </p:par>
                              <p:par>
                                <p:cTn id="101" presetID="10" presetClass="entr" presetSubtype="0" fill="hold" nodeType="withEffect">
                                  <p:stCondLst>
                                    <p:cond delay="245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450"/>
                                        <p:tgtEl>
                                          <p:spTgt spid="35"/>
                                        </p:tgtEl>
                                      </p:cBhvr>
                                    </p:animEffect>
                                  </p:childTnLst>
                                </p:cTn>
                              </p:par>
                              <p:par>
                                <p:cTn id="104" presetID="10" presetClass="entr" presetSubtype="0" fill="hold" nodeType="withEffect">
                                  <p:stCondLst>
                                    <p:cond delay="245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450"/>
                                        <p:tgtEl>
                                          <p:spTgt spid="36"/>
                                        </p:tgtEl>
                                      </p:cBhvr>
                                    </p:animEffect>
                                  </p:childTnLst>
                                </p:cTn>
                              </p:par>
                              <p:par>
                                <p:cTn id="107" presetID="10" presetClass="entr" presetSubtype="0" fill="hold" nodeType="withEffect">
                                  <p:stCondLst>
                                    <p:cond delay="245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450"/>
                                        <p:tgtEl>
                                          <p:spTgt spid="37"/>
                                        </p:tgtEl>
                                      </p:cBhvr>
                                    </p:animEffect>
                                  </p:childTnLst>
                                </p:cTn>
                              </p:par>
                              <p:par>
                                <p:cTn id="110" presetID="10" presetClass="entr" presetSubtype="0" fill="hold" nodeType="withEffect">
                                  <p:stCondLst>
                                    <p:cond delay="245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450"/>
                                        <p:tgtEl>
                                          <p:spTgt spid="38"/>
                                        </p:tgtEl>
                                      </p:cBhvr>
                                    </p:animEffect>
                                  </p:childTnLst>
                                </p:cTn>
                              </p:par>
                              <p:par>
                                <p:cTn id="113" presetID="10" presetClass="entr" presetSubtype="0" fill="hold" nodeType="withEffect">
                                  <p:stCondLst>
                                    <p:cond delay="245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046720" cy="685800"/>
          </a:xfrm>
          <a:prstGeom prst="rect">
            <a:avLst/>
          </a:prstGeom>
          <a:noFill/>
          <a:ln/>
        </p:spPr>
        <p:txBody>
          <a:bodyPr wrap="square" lIns="0" tIns="0" rIns="0" bIns="0" rtlCol="0" anchor="ctr"/>
          <a:lstStyle/>
          <a:p>
            <a:pPr algn="l" indent="0" marL="0">
              <a:buNone/>
            </a:pPr>
            <a:r>
              <a:rPr lang="en-US" sz="2800" b="1" dirty="0">
                <a:solidFill>
                  <a:srgbClr val="1F2328"/>
                </a:solidFill>
              </a:rPr>
              <a:t>AI &amp; technology used</a:t>
            </a:r>
            <a:endParaRPr lang="en-US" sz="2800" dirty="0"/>
          </a:p>
        </p:txBody>
      </p:sp>
      <p:sp>
        <p:nvSpPr>
          <p:cNvPr id="3" name="Shape 1"/>
          <p:cNvSpPr/>
          <p:nvPr/>
        </p:nvSpPr>
        <p:spPr>
          <a:xfrm>
            <a:off x="548640" y="1188720"/>
            <a:ext cx="2560320" cy="3291840"/>
          </a:xfrm>
          <a:prstGeom prst="roundRect">
            <a:avLst>
              <a:gd name="adj" fmla="val 2857"/>
            </a:avLst>
          </a:prstGeom>
          <a:solidFill>
            <a:srgbClr val="FFFFFF"/>
          </a:solidFill>
          <a:ln w="9525">
            <a:solidFill>
              <a:srgbClr val="E5E7EB"/>
            </a:solidFill>
            <a:prstDash val="solid"/>
          </a:ln>
          <a:effectLst>
            <a:outerShdw sx="100000" sy="100000" kx="0" ky="0" algn="bl" rotWithShape="0" blurRad="101600" dist="25400" dir="5400000">
              <a:srgbClr val="1F2328">
                <a:alpha val="6000"/>
              </a:srgbClr>
            </a:outerShdw>
          </a:effectLst>
        </p:spPr>
      </p:sp>
      <p:sp>
        <p:nvSpPr>
          <p:cNvPr id="4" name="Shape 2"/>
          <p:cNvSpPr/>
          <p:nvPr/>
        </p:nvSpPr>
        <p:spPr>
          <a:xfrm>
            <a:off x="749808" y="1371600"/>
            <a:ext cx="182880" cy="182880"/>
          </a:xfrm>
          <a:prstGeom prst="ellipse">
            <a:avLst/>
          </a:prstGeom>
          <a:solidFill>
            <a:srgbClr val="5B4FCF"/>
          </a:solidFill>
          <a:ln w="12700">
            <a:solidFill>
              <a:srgbClr val="5B4FCF"/>
            </a:solidFill>
            <a:prstDash val="solid"/>
          </a:ln>
        </p:spPr>
      </p:sp>
      <p:sp>
        <p:nvSpPr>
          <p:cNvPr id="5" name="Text 3"/>
          <p:cNvSpPr txBox="1"/>
          <p:nvPr/>
        </p:nvSpPr>
        <p:spPr>
          <a:xfrm>
            <a:off x="1024128" y="1316736"/>
            <a:ext cx="1920240" cy="292608"/>
          </a:xfrm>
          <a:prstGeom prst="rect">
            <a:avLst/>
          </a:prstGeom>
          <a:noFill/>
          <a:ln/>
        </p:spPr>
        <p:txBody>
          <a:bodyPr wrap="square" lIns="0" tIns="0" rIns="0" bIns="0" rtlCol="0" anchor="ctr"/>
          <a:lstStyle/>
          <a:p>
            <a:pPr indent="0" marL="0">
              <a:buNone/>
            </a:pPr>
            <a:r>
              <a:rPr lang="en-US" sz="1500" b="1" dirty="0">
                <a:solidFill>
                  <a:srgbClr val="1F2328"/>
                </a:solidFill>
              </a:rPr>
              <a:t>AI</a:t>
            </a:r>
            <a:endParaRPr lang="en-US" sz="1500" dirty="0"/>
          </a:p>
        </p:txBody>
      </p:sp>
      <p:sp>
        <p:nvSpPr>
          <p:cNvPr id="6" name="Shape 4"/>
          <p:cNvSpPr/>
          <p:nvPr/>
        </p:nvSpPr>
        <p:spPr>
          <a:xfrm>
            <a:off x="749808" y="1719072"/>
            <a:ext cx="2157984" cy="0"/>
          </a:xfrm>
          <a:prstGeom prst="line">
            <a:avLst/>
          </a:prstGeom>
          <a:noFill/>
          <a:ln w="9525">
            <a:solidFill>
              <a:srgbClr val="E5E7EB"/>
            </a:solidFill>
            <a:prstDash val="solid"/>
          </a:ln>
        </p:spPr>
      </p:sp>
      <p:sp>
        <p:nvSpPr>
          <p:cNvPr id="7" name="Text 5"/>
          <p:cNvSpPr txBox="1"/>
          <p:nvPr/>
        </p:nvSpPr>
        <p:spPr>
          <a:xfrm>
            <a:off x="749808" y="1810512"/>
            <a:ext cx="2194560" cy="246888"/>
          </a:xfrm>
          <a:prstGeom prst="rect">
            <a:avLst/>
          </a:prstGeom>
          <a:noFill/>
          <a:ln/>
        </p:spPr>
        <p:txBody>
          <a:bodyPr wrap="square" lIns="0" tIns="0" rIns="0" bIns="0" rtlCol="0" anchor="t"/>
          <a:lstStyle/>
          <a:p>
            <a:pPr indent="0" marL="0">
              <a:buNone/>
            </a:pPr>
            <a:r>
              <a:rPr lang="en-US" sz="1250" b="1" dirty="0">
                <a:solidFill>
                  <a:srgbClr val="1F2328"/>
                </a:solidFill>
              </a:rPr>
              <a:t>Google Gemini API</a:t>
            </a:r>
            <a:endParaRPr lang="en-US" sz="1250" dirty="0"/>
          </a:p>
        </p:txBody>
      </p:sp>
      <p:sp>
        <p:nvSpPr>
          <p:cNvPr id="8" name="Text 6"/>
          <p:cNvSpPr txBox="1"/>
          <p:nvPr/>
        </p:nvSpPr>
        <p:spPr>
          <a:xfrm>
            <a:off x="749808" y="2066544"/>
            <a:ext cx="2194560" cy="502920"/>
          </a:xfrm>
          <a:prstGeom prst="rect">
            <a:avLst/>
          </a:prstGeom>
          <a:noFill/>
          <a:ln/>
        </p:spPr>
        <p:txBody>
          <a:bodyPr wrap="square" lIns="0" tIns="0" rIns="0" bIns="0" rtlCol="0" anchor="t"/>
          <a:lstStyle/>
          <a:p>
            <a:pPr indent="0" marL="0">
              <a:buNone/>
            </a:pPr>
            <a:r>
              <a:rPr lang="en-US" sz="1050" dirty="0">
                <a:solidFill>
                  <a:srgbClr val="6B7280"/>
                </a:solidFill>
              </a:rPr>
              <a:t>Analyzes check-ins and task history; returns risk level, evidence and next step</a:t>
            </a:r>
            <a:endParaRPr lang="en-US" sz="1050" dirty="0"/>
          </a:p>
        </p:txBody>
      </p:sp>
      <p:sp>
        <p:nvSpPr>
          <p:cNvPr id="9" name="Shape 7"/>
          <p:cNvSpPr/>
          <p:nvPr/>
        </p:nvSpPr>
        <p:spPr>
          <a:xfrm>
            <a:off x="749808" y="2587752"/>
            <a:ext cx="2157984" cy="0"/>
          </a:xfrm>
          <a:prstGeom prst="line">
            <a:avLst/>
          </a:prstGeom>
          <a:noFill/>
          <a:ln w="9525">
            <a:solidFill>
              <a:srgbClr val="E5E7EB"/>
            </a:solidFill>
            <a:prstDash val="solid"/>
          </a:ln>
        </p:spPr>
      </p:sp>
      <p:sp>
        <p:nvSpPr>
          <p:cNvPr id="10" name="Text 8"/>
          <p:cNvSpPr txBox="1"/>
          <p:nvPr/>
        </p:nvSpPr>
        <p:spPr>
          <a:xfrm>
            <a:off x="749808" y="2679192"/>
            <a:ext cx="2194560" cy="246888"/>
          </a:xfrm>
          <a:prstGeom prst="rect">
            <a:avLst/>
          </a:prstGeom>
          <a:noFill/>
          <a:ln/>
        </p:spPr>
        <p:txBody>
          <a:bodyPr wrap="square" lIns="0" tIns="0" rIns="0" bIns="0" rtlCol="0" anchor="t"/>
          <a:lstStyle/>
          <a:p>
            <a:pPr indent="0" marL="0">
              <a:buNone/>
            </a:pPr>
            <a:r>
              <a:rPr lang="en-US" sz="1250" b="1" dirty="0">
                <a:solidFill>
                  <a:srgbClr val="1F2328"/>
                </a:solidFill>
              </a:rPr>
              <a:t>Rule-based fallback</a:t>
            </a:r>
            <a:endParaRPr lang="en-US" sz="1250" dirty="0"/>
          </a:p>
        </p:txBody>
      </p:sp>
      <p:sp>
        <p:nvSpPr>
          <p:cNvPr id="11" name="Text 9"/>
          <p:cNvSpPr txBox="1"/>
          <p:nvPr/>
        </p:nvSpPr>
        <p:spPr>
          <a:xfrm>
            <a:off x="749808" y="2935224"/>
            <a:ext cx="2194560" cy="502920"/>
          </a:xfrm>
          <a:prstGeom prst="rect">
            <a:avLst/>
          </a:prstGeom>
          <a:noFill/>
          <a:ln/>
        </p:spPr>
        <p:txBody>
          <a:bodyPr wrap="square" lIns="0" tIns="0" rIns="0" bIns="0" rtlCol="0" anchor="t"/>
          <a:lstStyle/>
          <a:p>
            <a:pPr indent="0" marL="0">
              <a:buNone/>
            </a:pPr>
            <a:r>
              <a:rPr lang="en-US" sz="1050" dirty="0">
                <a:solidFill>
                  <a:srgbClr val="6B7280"/>
                </a:solidFill>
              </a:rPr>
              <a:t>Keeps risk alerts working if the AI is unavailable</a:t>
            </a:r>
            <a:endParaRPr lang="en-US" sz="1050" dirty="0"/>
          </a:p>
        </p:txBody>
      </p:sp>
      <p:sp>
        <p:nvSpPr>
          <p:cNvPr id="12" name="Shape 10"/>
          <p:cNvSpPr/>
          <p:nvPr/>
        </p:nvSpPr>
        <p:spPr>
          <a:xfrm>
            <a:off x="749808" y="3456432"/>
            <a:ext cx="2157984" cy="0"/>
          </a:xfrm>
          <a:prstGeom prst="line">
            <a:avLst/>
          </a:prstGeom>
          <a:noFill/>
          <a:ln w="9525">
            <a:solidFill>
              <a:srgbClr val="E5E7EB"/>
            </a:solidFill>
            <a:prstDash val="solid"/>
          </a:ln>
        </p:spPr>
      </p:sp>
      <p:sp>
        <p:nvSpPr>
          <p:cNvPr id="13" name="Text 11"/>
          <p:cNvSpPr txBox="1"/>
          <p:nvPr/>
        </p:nvSpPr>
        <p:spPr>
          <a:xfrm>
            <a:off x="749808" y="3547872"/>
            <a:ext cx="2194560" cy="246888"/>
          </a:xfrm>
          <a:prstGeom prst="rect">
            <a:avLst/>
          </a:prstGeom>
          <a:noFill/>
          <a:ln/>
        </p:spPr>
        <p:txBody>
          <a:bodyPr wrap="square" lIns="0" tIns="0" rIns="0" bIns="0" rtlCol="0" anchor="t"/>
          <a:lstStyle/>
          <a:p>
            <a:pPr indent="0" marL="0">
              <a:buNone/>
            </a:pPr>
            <a:r>
              <a:rPr lang="en-US" sz="1250" b="1" dirty="0">
                <a:solidFill>
                  <a:srgbClr val="1F2328"/>
                </a:solidFill>
              </a:rPr>
              <a:t>Claude Code</a:t>
            </a:r>
            <a:endParaRPr lang="en-US" sz="1250" dirty="0"/>
          </a:p>
        </p:txBody>
      </p:sp>
      <p:sp>
        <p:nvSpPr>
          <p:cNvPr id="14" name="Text 12"/>
          <p:cNvSpPr txBox="1"/>
          <p:nvPr/>
        </p:nvSpPr>
        <p:spPr>
          <a:xfrm>
            <a:off x="749808" y="3803904"/>
            <a:ext cx="2194560" cy="502920"/>
          </a:xfrm>
          <a:prstGeom prst="rect">
            <a:avLst/>
          </a:prstGeom>
          <a:noFill/>
          <a:ln/>
        </p:spPr>
        <p:txBody>
          <a:bodyPr wrap="square" lIns="0" tIns="0" rIns="0" bIns="0" rtlCol="0" anchor="t"/>
          <a:lstStyle/>
          <a:p>
            <a:pPr indent="0" marL="0">
              <a:buNone/>
            </a:pPr>
            <a:r>
              <a:rPr lang="en-US" sz="1050" dirty="0">
                <a:solidFill>
                  <a:srgbClr val="6B7280"/>
                </a:solidFill>
              </a:rPr>
              <a:t>AI coding assistant used during development</a:t>
            </a:r>
            <a:endParaRPr lang="en-US" sz="1050" dirty="0"/>
          </a:p>
        </p:txBody>
      </p:sp>
      <p:sp>
        <p:nvSpPr>
          <p:cNvPr id="15" name="Shape 13"/>
          <p:cNvSpPr/>
          <p:nvPr/>
        </p:nvSpPr>
        <p:spPr>
          <a:xfrm>
            <a:off x="3291840" y="1188720"/>
            <a:ext cx="2560320" cy="3291840"/>
          </a:xfrm>
          <a:prstGeom prst="roundRect">
            <a:avLst>
              <a:gd name="adj" fmla="val 2857"/>
            </a:avLst>
          </a:prstGeom>
          <a:solidFill>
            <a:srgbClr val="FFFFFF"/>
          </a:solidFill>
          <a:ln w="9525">
            <a:solidFill>
              <a:srgbClr val="E5E7EB"/>
            </a:solidFill>
            <a:prstDash val="solid"/>
          </a:ln>
          <a:effectLst>
            <a:outerShdw sx="100000" sy="100000" kx="0" ky="0" algn="bl" rotWithShape="0" blurRad="101600" dist="25400" dir="5400000">
              <a:srgbClr val="1F2328">
                <a:alpha val="6000"/>
              </a:srgbClr>
            </a:outerShdw>
          </a:effectLst>
        </p:spPr>
      </p:sp>
      <p:sp>
        <p:nvSpPr>
          <p:cNvPr id="16" name="Shape 14"/>
          <p:cNvSpPr/>
          <p:nvPr/>
        </p:nvSpPr>
        <p:spPr>
          <a:xfrm>
            <a:off x="3493008" y="1371600"/>
            <a:ext cx="182880" cy="182880"/>
          </a:xfrm>
          <a:prstGeom prst="ellipse">
            <a:avLst/>
          </a:prstGeom>
          <a:solidFill>
            <a:srgbClr val="D9922B"/>
          </a:solidFill>
          <a:ln w="12700">
            <a:solidFill>
              <a:srgbClr val="D9922B"/>
            </a:solidFill>
            <a:prstDash val="solid"/>
          </a:ln>
        </p:spPr>
      </p:sp>
      <p:sp>
        <p:nvSpPr>
          <p:cNvPr id="17" name="Text 15"/>
          <p:cNvSpPr txBox="1"/>
          <p:nvPr/>
        </p:nvSpPr>
        <p:spPr>
          <a:xfrm>
            <a:off x="3767328" y="1316736"/>
            <a:ext cx="1920240" cy="292608"/>
          </a:xfrm>
          <a:prstGeom prst="rect">
            <a:avLst/>
          </a:prstGeom>
          <a:noFill/>
          <a:ln/>
        </p:spPr>
        <p:txBody>
          <a:bodyPr wrap="square" lIns="0" tIns="0" rIns="0" bIns="0" rtlCol="0" anchor="ctr"/>
          <a:lstStyle/>
          <a:p>
            <a:pPr indent="0" marL="0">
              <a:buNone/>
            </a:pPr>
            <a:r>
              <a:rPr lang="en-US" sz="1500" b="1" dirty="0">
                <a:solidFill>
                  <a:srgbClr val="1F2328"/>
                </a:solidFill>
              </a:rPr>
              <a:t>APIs &amp; services</a:t>
            </a:r>
            <a:endParaRPr lang="en-US" sz="1500" dirty="0"/>
          </a:p>
        </p:txBody>
      </p:sp>
      <p:sp>
        <p:nvSpPr>
          <p:cNvPr id="18" name="Shape 16"/>
          <p:cNvSpPr/>
          <p:nvPr/>
        </p:nvSpPr>
        <p:spPr>
          <a:xfrm>
            <a:off x="3493008" y="1719072"/>
            <a:ext cx="2157984" cy="0"/>
          </a:xfrm>
          <a:prstGeom prst="line">
            <a:avLst/>
          </a:prstGeom>
          <a:noFill/>
          <a:ln w="9525">
            <a:solidFill>
              <a:srgbClr val="E5E7EB"/>
            </a:solidFill>
            <a:prstDash val="solid"/>
          </a:ln>
        </p:spPr>
      </p:sp>
      <p:sp>
        <p:nvSpPr>
          <p:cNvPr id="19" name="Text 17"/>
          <p:cNvSpPr txBox="1"/>
          <p:nvPr/>
        </p:nvSpPr>
        <p:spPr>
          <a:xfrm>
            <a:off x="3493008" y="1810512"/>
            <a:ext cx="2194560" cy="246888"/>
          </a:xfrm>
          <a:prstGeom prst="rect">
            <a:avLst/>
          </a:prstGeom>
          <a:noFill/>
          <a:ln/>
        </p:spPr>
        <p:txBody>
          <a:bodyPr wrap="square" lIns="0" tIns="0" rIns="0" bIns="0" rtlCol="0" anchor="t"/>
          <a:lstStyle/>
          <a:p>
            <a:pPr indent="0" marL="0">
              <a:buNone/>
            </a:pPr>
            <a:r>
              <a:rPr lang="en-US" sz="1250" b="1" dirty="0">
                <a:solidFill>
                  <a:srgbClr val="1F2328"/>
                </a:solidFill>
              </a:rPr>
              <a:t>WhatsApp Cloud API</a:t>
            </a:r>
            <a:endParaRPr lang="en-US" sz="1250" dirty="0"/>
          </a:p>
        </p:txBody>
      </p:sp>
      <p:sp>
        <p:nvSpPr>
          <p:cNvPr id="20" name="Text 18"/>
          <p:cNvSpPr txBox="1"/>
          <p:nvPr/>
        </p:nvSpPr>
        <p:spPr>
          <a:xfrm>
            <a:off x="3493008" y="2066544"/>
            <a:ext cx="2194560" cy="502920"/>
          </a:xfrm>
          <a:prstGeom prst="rect">
            <a:avLst/>
          </a:prstGeom>
          <a:noFill/>
          <a:ln/>
        </p:spPr>
        <p:txBody>
          <a:bodyPr wrap="square" lIns="0" tIns="0" rIns="0" bIns="0" rtlCol="0" anchor="t"/>
          <a:lstStyle/>
          <a:p>
            <a:pPr indent="0" marL="0">
              <a:buNone/>
            </a:pPr>
            <a:r>
              <a:rPr lang="en-US" sz="1050" dirty="0">
                <a:solidFill>
                  <a:srgbClr val="6B7280"/>
                </a:solidFill>
              </a:rPr>
              <a:t>Assignment, submission and deadline notifications</a:t>
            </a:r>
            <a:endParaRPr lang="en-US" sz="1050" dirty="0"/>
          </a:p>
        </p:txBody>
      </p:sp>
      <p:sp>
        <p:nvSpPr>
          <p:cNvPr id="21" name="Shape 19"/>
          <p:cNvSpPr/>
          <p:nvPr/>
        </p:nvSpPr>
        <p:spPr>
          <a:xfrm>
            <a:off x="3493008" y="2587752"/>
            <a:ext cx="2157984" cy="0"/>
          </a:xfrm>
          <a:prstGeom prst="line">
            <a:avLst/>
          </a:prstGeom>
          <a:noFill/>
          <a:ln w="9525">
            <a:solidFill>
              <a:srgbClr val="E5E7EB"/>
            </a:solidFill>
            <a:prstDash val="solid"/>
          </a:ln>
        </p:spPr>
      </p:sp>
      <p:sp>
        <p:nvSpPr>
          <p:cNvPr id="22" name="Text 20"/>
          <p:cNvSpPr txBox="1"/>
          <p:nvPr/>
        </p:nvSpPr>
        <p:spPr>
          <a:xfrm>
            <a:off x="3493008" y="2679192"/>
            <a:ext cx="2194560" cy="246888"/>
          </a:xfrm>
          <a:prstGeom prst="rect">
            <a:avLst/>
          </a:prstGeom>
          <a:noFill/>
          <a:ln/>
        </p:spPr>
        <p:txBody>
          <a:bodyPr wrap="square" lIns="0" tIns="0" rIns="0" bIns="0" rtlCol="0" anchor="t"/>
          <a:lstStyle/>
          <a:p>
            <a:pPr indent="0" marL="0">
              <a:buNone/>
            </a:pPr>
            <a:r>
              <a:rPr lang="en-US" sz="1250" b="1" dirty="0">
                <a:solidFill>
                  <a:srgbClr val="1F2328"/>
                </a:solidFill>
              </a:rPr>
              <a:t>REST API (Express)</a:t>
            </a:r>
            <a:endParaRPr lang="en-US" sz="1250" dirty="0"/>
          </a:p>
        </p:txBody>
      </p:sp>
      <p:sp>
        <p:nvSpPr>
          <p:cNvPr id="23" name="Text 21"/>
          <p:cNvSpPr txBox="1"/>
          <p:nvPr/>
        </p:nvSpPr>
        <p:spPr>
          <a:xfrm>
            <a:off x="3493008" y="2935224"/>
            <a:ext cx="2194560" cy="502920"/>
          </a:xfrm>
          <a:prstGeom prst="rect">
            <a:avLst/>
          </a:prstGeom>
          <a:noFill/>
          <a:ln/>
        </p:spPr>
        <p:txBody>
          <a:bodyPr wrap="square" lIns="0" tIns="0" rIns="0" bIns="0" rtlCol="0" anchor="t"/>
          <a:lstStyle/>
          <a:p>
            <a:pPr indent="0" marL="0">
              <a:buNone/>
            </a:pPr>
            <a:r>
              <a:rPr lang="en-US" sz="1050" dirty="0">
                <a:solidFill>
                  <a:srgbClr val="6B7280"/>
                </a:solidFill>
              </a:rPr>
              <a:t>Projects, tasks, check-ins, reviews, risk</a:t>
            </a:r>
            <a:endParaRPr lang="en-US" sz="1050" dirty="0"/>
          </a:p>
        </p:txBody>
      </p:sp>
      <p:sp>
        <p:nvSpPr>
          <p:cNvPr id="24" name="Shape 22"/>
          <p:cNvSpPr/>
          <p:nvPr/>
        </p:nvSpPr>
        <p:spPr>
          <a:xfrm>
            <a:off x="3493008" y="3456432"/>
            <a:ext cx="2157984" cy="0"/>
          </a:xfrm>
          <a:prstGeom prst="line">
            <a:avLst/>
          </a:prstGeom>
          <a:noFill/>
          <a:ln w="9525">
            <a:solidFill>
              <a:srgbClr val="E5E7EB"/>
            </a:solidFill>
            <a:prstDash val="solid"/>
          </a:ln>
        </p:spPr>
      </p:sp>
      <p:sp>
        <p:nvSpPr>
          <p:cNvPr id="25" name="Text 23"/>
          <p:cNvSpPr txBox="1"/>
          <p:nvPr/>
        </p:nvSpPr>
        <p:spPr>
          <a:xfrm>
            <a:off x="3493008" y="3547872"/>
            <a:ext cx="2194560" cy="246888"/>
          </a:xfrm>
          <a:prstGeom prst="rect">
            <a:avLst/>
          </a:prstGeom>
          <a:noFill/>
          <a:ln/>
        </p:spPr>
        <p:txBody>
          <a:bodyPr wrap="square" lIns="0" tIns="0" rIns="0" bIns="0" rtlCol="0" anchor="t"/>
          <a:lstStyle/>
          <a:p>
            <a:pPr indent="0" marL="0">
              <a:buNone/>
            </a:pPr>
            <a:r>
              <a:rPr lang="en-US" sz="1250" b="1" dirty="0">
                <a:solidFill>
                  <a:srgbClr val="1F2328"/>
                </a:solidFill>
              </a:rPr>
              <a:t>Cloudinary · Mailtrap</a:t>
            </a:r>
            <a:endParaRPr lang="en-US" sz="1250" dirty="0"/>
          </a:p>
        </p:txBody>
      </p:sp>
      <p:sp>
        <p:nvSpPr>
          <p:cNvPr id="26" name="Text 24"/>
          <p:cNvSpPr txBox="1"/>
          <p:nvPr/>
        </p:nvSpPr>
        <p:spPr>
          <a:xfrm>
            <a:off x="3493008" y="3803904"/>
            <a:ext cx="2194560" cy="502920"/>
          </a:xfrm>
          <a:prstGeom prst="rect">
            <a:avLst/>
          </a:prstGeom>
          <a:noFill/>
          <a:ln/>
        </p:spPr>
        <p:txBody>
          <a:bodyPr wrap="square" lIns="0" tIns="0" rIns="0" bIns="0" rtlCol="0" anchor="t"/>
          <a:lstStyle/>
          <a:p>
            <a:pPr indent="0" marL="0">
              <a:buNone/>
            </a:pPr>
            <a:r>
              <a:rPr lang="en-US" sz="1050" dirty="0">
                <a:solidFill>
                  <a:srgbClr val="6B7280"/>
                </a:solidFill>
              </a:rPr>
              <a:t>File uploads · email verification</a:t>
            </a:r>
            <a:endParaRPr lang="en-US" sz="1050" dirty="0"/>
          </a:p>
        </p:txBody>
      </p:sp>
      <p:sp>
        <p:nvSpPr>
          <p:cNvPr id="27" name="Shape 25"/>
          <p:cNvSpPr/>
          <p:nvPr/>
        </p:nvSpPr>
        <p:spPr>
          <a:xfrm>
            <a:off x="6035040" y="1188720"/>
            <a:ext cx="2560320" cy="3291840"/>
          </a:xfrm>
          <a:prstGeom prst="roundRect">
            <a:avLst>
              <a:gd name="adj" fmla="val 2857"/>
            </a:avLst>
          </a:prstGeom>
          <a:solidFill>
            <a:srgbClr val="FFFFFF"/>
          </a:solidFill>
          <a:ln w="9525">
            <a:solidFill>
              <a:srgbClr val="E5E7EB"/>
            </a:solidFill>
            <a:prstDash val="solid"/>
          </a:ln>
          <a:effectLst>
            <a:outerShdw sx="100000" sy="100000" kx="0" ky="0" algn="bl" rotWithShape="0" blurRad="101600" dist="25400" dir="5400000">
              <a:srgbClr val="1F2328">
                <a:alpha val="6000"/>
              </a:srgbClr>
            </a:outerShdw>
          </a:effectLst>
        </p:spPr>
      </p:sp>
      <p:sp>
        <p:nvSpPr>
          <p:cNvPr id="28" name="Shape 26"/>
          <p:cNvSpPr/>
          <p:nvPr/>
        </p:nvSpPr>
        <p:spPr>
          <a:xfrm>
            <a:off x="6236208" y="1371600"/>
            <a:ext cx="182880" cy="182880"/>
          </a:xfrm>
          <a:prstGeom prst="ellipse">
            <a:avLst/>
          </a:prstGeom>
          <a:solidFill>
            <a:srgbClr val="1F8A5B"/>
          </a:solidFill>
          <a:ln w="12700">
            <a:solidFill>
              <a:srgbClr val="1F8A5B"/>
            </a:solidFill>
            <a:prstDash val="solid"/>
          </a:ln>
        </p:spPr>
      </p:sp>
      <p:sp>
        <p:nvSpPr>
          <p:cNvPr id="29" name="Text 27"/>
          <p:cNvSpPr txBox="1"/>
          <p:nvPr/>
        </p:nvSpPr>
        <p:spPr>
          <a:xfrm>
            <a:off x="6510528" y="1316736"/>
            <a:ext cx="1920240" cy="292608"/>
          </a:xfrm>
          <a:prstGeom prst="rect">
            <a:avLst/>
          </a:prstGeom>
          <a:noFill/>
          <a:ln/>
        </p:spPr>
        <p:txBody>
          <a:bodyPr wrap="square" lIns="0" tIns="0" rIns="0" bIns="0" rtlCol="0" anchor="ctr"/>
          <a:lstStyle/>
          <a:p>
            <a:pPr indent="0" marL="0">
              <a:buNone/>
            </a:pPr>
            <a:r>
              <a:rPr lang="en-US" sz="1500" b="1" dirty="0">
                <a:solidFill>
                  <a:srgbClr val="1F2328"/>
                </a:solidFill>
              </a:rPr>
              <a:t>Languages &amp; stack</a:t>
            </a:r>
            <a:endParaRPr lang="en-US" sz="1500" dirty="0"/>
          </a:p>
        </p:txBody>
      </p:sp>
      <p:sp>
        <p:nvSpPr>
          <p:cNvPr id="30" name="Shape 28"/>
          <p:cNvSpPr/>
          <p:nvPr/>
        </p:nvSpPr>
        <p:spPr>
          <a:xfrm>
            <a:off x="6236208" y="1719072"/>
            <a:ext cx="2157984" cy="0"/>
          </a:xfrm>
          <a:prstGeom prst="line">
            <a:avLst/>
          </a:prstGeom>
          <a:noFill/>
          <a:ln w="9525">
            <a:solidFill>
              <a:srgbClr val="E5E7EB"/>
            </a:solidFill>
            <a:prstDash val="solid"/>
          </a:ln>
        </p:spPr>
      </p:sp>
      <p:sp>
        <p:nvSpPr>
          <p:cNvPr id="31" name="Text 29"/>
          <p:cNvSpPr txBox="1"/>
          <p:nvPr/>
        </p:nvSpPr>
        <p:spPr>
          <a:xfrm>
            <a:off x="6236208" y="1810512"/>
            <a:ext cx="2194560" cy="246888"/>
          </a:xfrm>
          <a:prstGeom prst="rect">
            <a:avLst/>
          </a:prstGeom>
          <a:noFill/>
          <a:ln/>
        </p:spPr>
        <p:txBody>
          <a:bodyPr wrap="square" lIns="0" tIns="0" rIns="0" bIns="0" rtlCol="0" anchor="t"/>
          <a:lstStyle/>
          <a:p>
            <a:pPr indent="0" marL="0">
              <a:buNone/>
            </a:pPr>
            <a:r>
              <a:rPr lang="en-US" sz="1250" b="1" dirty="0">
                <a:solidFill>
                  <a:srgbClr val="1F2328"/>
                </a:solidFill>
              </a:rPr>
              <a:t>JavaScript</a:t>
            </a:r>
            <a:endParaRPr lang="en-US" sz="1250" dirty="0"/>
          </a:p>
        </p:txBody>
      </p:sp>
      <p:sp>
        <p:nvSpPr>
          <p:cNvPr id="32" name="Text 30"/>
          <p:cNvSpPr txBox="1"/>
          <p:nvPr/>
        </p:nvSpPr>
        <p:spPr>
          <a:xfrm>
            <a:off x="6236208" y="2066544"/>
            <a:ext cx="2194560" cy="502920"/>
          </a:xfrm>
          <a:prstGeom prst="rect">
            <a:avLst/>
          </a:prstGeom>
          <a:noFill/>
          <a:ln/>
        </p:spPr>
        <p:txBody>
          <a:bodyPr wrap="square" lIns="0" tIns="0" rIns="0" bIns="0" rtlCol="0" anchor="t"/>
          <a:lstStyle/>
          <a:p>
            <a:pPr indent="0" marL="0">
              <a:buNone/>
            </a:pPr>
            <a:r>
              <a:rPr lang="en-US" sz="1050" dirty="0">
                <a:solidFill>
                  <a:srgbClr val="6B7280"/>
                </a:solidFill>
              </a:rPr>
              <a:t>Across frontend and backend</a:t>
            </a:r>
            <a:endParaRPr lang="en-US" sz="1050" dirty="0"/>
          </a:p>
        </p:txBody>
      </p:sp>
      <p:sp>
        <p:nvSpPr>
          <p:cNvPr id="33" name="Shape 31"/>
          <p:cNvSpPr/>
          <p:nvPr/>
        </p:nvSpPr>
        <p:spPr>
          <a:xfrm>
            <a:off x="6236208" y="2587752"/>
            <a:ext cx="2157984" cy="0"/>
          </a:xfrm>
          <a:prstGeom prst="line">
            <a:avLst/>
          </a:prstGeom>
          <a:noFill/>
          <a:ln w="9525">
            <a:solidFill>
              <a:srgbClr val="E5E7EB"/>
            </a:solidFill>
            <a:prstDash val="solid"/>
          </a:ln>
        </p:spPr>
      </p:sp>
      <p:sp>
        <p:nvSpPr>
          <p:cNvPr id="34" name="Text 32"/>
          <p:cNvSpPr txBox="1"/>
          <p:nvPr/>
        </p:nvSpPr>
        <p:spPr>
          <a:xfrm>
            <a:off x="6236208" y="2679192"/>
            <a:ext cx="2194560" cy="246888"/>
          </a:xfrm>
          <a:prstGeom prst="rect">
            <a:avLst/>
          </a:prstGeom>
          <a:noFill/>
          <a:ln/>
        </p:spPr>
        <p:txBody>
          <a:bodyPr wrap="square" lIns="0" tIns="0" rIns="0" bIns="0" rtlCol="0" anchor="t"/>
          <a:lstStyle/>
          <a:p>
            <a:pPr indent="0" marL="0">
              <a:buNone/>
            </a:pPr>
            <a:r>
              <a:rPr lang="en-US" sz="1250" b="1" dirty="0">
                <a:solidFill>
                  <a:srgbClr val="1F2328"/>
                </a:solidFill>
              </a:rPr>
              <a:t>React · Vite · Tailwind CSS</a:t>
            </a:r>
            <a:endParaRPr lang="en-US" sz="1250" dirty="0"/>
          </a:p>
        </p:txBody>
      </p:sp>
      <p:sp>
        <p:nvSpPr>
          <p:cNvPr id="35" name="Text 33"/>
          <p:cNvSpPr txBox="1"/>
          <p:nvPr/>
        </p:nvSpPr>
        <p:spPr>
          <a:xfrm>
            <a:off x="6236208" y="2935224"/>
            <a:ext cx="2194560" cy="502920"/>
          </a:xfrm>
          <a:prstGeom prst="rect">
            <a:avLst/>
          </a:prstGeom>
          <a:noFill/>
          <a:ln/>
        </p:spPr>
        <p:txBody>
          <a:bodyPr wrap="square" lIns="0" tIns="0" rIns="0" bIns="0" rtlCol="0" anchor="t"/>
          <a:lstStyle/>
          <a:p>
            <a:pPr indent="0" marL="0">
              <a:buNone/>
            </a:pPr>
            <a:r>
              <a:rPr lang="en-US" sz="1050" dirty="0">
                <a:solidFill>
                  <a:srgbClr val="6B7280"/>
                </a:solidFill>
              </a:rPr>
              <a:t>Responsive web interface</a:t>
            </a:r>
            <a:endParaRPr lang="en-US" sz="1050" dirty="0"/>
          </a:p>
        </p:txBody>
      </p:sp>
      <p:sp>
        <p:nvSpPr>
          <p:cNvPr id="36" name="Shape 34"/>
          <p:cNvSpPr/>
          <p:nvPr/>
        </p:nvSpPr>
        <p:spPr>
          <a:xfrm>
            <a:off x="6236208" y="3456432"/>
            <a:ext cx="2157984" cy="0"/>
          </a:xfrm>
          <a:prstGeom prst="line">
            <a:avLst/>
          </a:prstGeom>
          <a:noFill/>
          <a:ln w="9525">
            <a:solidFill>
              <a:srgbClr val="E5E7EB"/>
            </a:solidFill>
            <a:prstDash val="solid"/>
          </a:ln>
        </p:spPr>
      </p:sp>
      <p:sp>
        <p:nvSpPr>
          <p:cNvPr id="37" name="Text 35"/>
          <p:cNvSpPr txBox="1"/>
          <p:nvPr/>
        </p:nvSpPr>
        <p:spPr>
          <a:xfrm>
            <a:off x="6236208" y="3547872"/>
            <a:ext cx="2194560" cy="246888"/>
          </a:xfrm>
          <a:prstGeom prst="rect">
            <a:avLst/>
          </a:prstGeom>
          <a:noFill/>
          <a:ln/>
        </p:spPr>
        <p:txBody>
          <a:bodyPr wrap="square" lIns="0" tIns="0" rIns="0" bIns="0" rtlCol="0" anchor="t"/>
          <a:lstStyle/>
          <a:p>
            <a:pPr indent="0" marL="0">
              <a:buNone/>
            </a:pPr>
            <a:r>
              <a:rPr lang="en-US" sz="1250" b="1" dirty="0">
                <a:solidFill>
                  <a:srgbClr val="1F2328"/>
                </a:solidFill>
              </a:rPr>
              <a:t>Node.js · Express · MongoDB</a:t>
            </a:r>
            <a:endParaRPr lang="en-US" sz="1250" dirty="0"/>
          </a:p>
        </p:txBody>
      </p:sp>
      <p:sp>
        <p:nvSpPr>
          <p:cNvPr id="38" name="Text 36"/>
          <p:cNvSpPr txBox="1"/>
          <p:nvPr/>
        </p:nvSpPr>
        <p:spPr>
          <a:xfrm>
            <a:off x="6236208" y="3803904"/>
            <a:ext cx="2194560" cy="502920"/>
          </a:xfrm>
          <a:prstGeom prst="rect">
            <a:avLst/>
          </a:prstGeom>
          <a:noFill/>
          <a:ln/>
        </p:spPr>
        <p:txBody>
          <a:bodyPr wrap="square" lIns="0" tIns="0" rIns="0" bIns="0" rtlCol="0" anchor="t"/>
          <a:lstStyle/>
          <a:p>
            <a:pPr indent="0" marL="0">
              <a:buNone/>
            </a:pPr>
            <a:r>
              <a:rPr lang="en-US" sz="1050" dirty="0">
                <a:solidFill>
                  <a:srgbClr val="6B7280"/>
                </a:solidFill>
              </a:rPr>
              <a:t>API, JWT auth and Mongoose data layer</a:t>
            </a:r>
            <a:endParaRPr lang="en-US" sz="1050" dirty="0"/>
          </a:p>
        </p:txBody>
      </p:sp>
      <p:sp>
        <p:nvSpPr>
          <p:cNvPr id="39"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10" presetClass="entr" presetSubtype="0" fill="hold" nodeType="withEffect">
                                  <p:stCondLst>
                                    <p:cond delay="1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nodeType="withEffect">
                                  <p:stCondLst>
                                    <p:cond delay="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nodeType="withEffect">
                                  <p:stCondLst>
                                    <p:cond delay="1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nodeType="withEffect">
                                  <p:stCondLst>
                                    <p:cond delay="1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nodeType="withEffect">
                                  <p:stCondLst>
                                    <p:cond delay="1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nodeType="withEffect">
                                  <p:stCondLst>
                                    <p:cond delay="1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par>
                                <p:cTn id="32" presetID="10" presetClass="entr" presetSubtype="0" fill="hold" nodeType="withEffect">
                                  <p:stCondLst>
                                    <p:cond delay="1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10" presetClass="entr" presetSubtype="0" fill="hold" nodeType="withEffect">
                                  <p:stCondLst>
                                    <p:cond delay="15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50"/>
                                        <p:tgtEl>
                                          <p:spTgt spid="13"/>
                                        </p:tgtEl>
                                      </p:cBhvr>
                                    </p:animEffect>
                                  </p:childTnLst>
                                </p:cTn>
                              </p:par>
                              <p:par>
                                <p:cTn id="38" presetID="10" presetClass="entr" presetSubtype="0" fill="hold" nodeType="withEffect">
                                  <p:stCondLst>
                                    <p:cond delay="1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par>
                                <p:cTn id="41" presetID="10" presetClass="entr" presetSubtype="0" fill="hold" nodeType="withEffect">
                                  <p:stCondLst>
                                    <p:cond delay="38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50"/>
                                        <p:tgtEl>
                                          <p:spTgt spid="15"/>
                                        </p:tgtEl>
                                      </p:cBhvr>
                                    </p:animEffect>
                                  </p:childTnLst>
                                </p:cTn>
                              </p:par>
                              <p:par>
                                <p:cTn id="44" presetID="10" presetClass="entr" presetSubtype="0" fill="hold" nodeType="withEffect">
                                  <p:stCondLst>
                                    <p:cond delay="38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50"/>
                                        <p:tgtEl>
                                          <p:spTgt spid="16"/>
                                        </p:tgtEl>
                                      </p:cBhvr>
                                    </p:animEffect>
                                  </p:childTnLst>
                                </p:cTn>
                              </p:par>
                              <p:par>
                                <p:cTn id="47" presetID="10" presetClass="entr" presetSubtype="0" fill="hold" nodeType="withEffect">
                                  <p:stCondLst>
                                    <p:cond delay="38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childTnLst>
                                </p:cTn>
                              </p:par>
                              <p:par>
                                <p:cTn id="50" presetID="10" presetClass="entr" presetSubtype="0" fill="hold" nodeType="withEffect">
                                  <p:stCondLst>
                                    <p:cond delay="38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par>
                                <p:cTn id="53" presetID="10" presetClass="entr" presetSubtype="0" fill="hold" nodeType="withEffect">
                                  <p:stCondLst>
                                    <p:cond delay="38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nodeType="withEffect">
                                  <p:stCondLst>
                                    <p:cond delay="38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par>
                                <p:cTn id="59" presetID="10" presetClass="entr" presetSubtype="0" fill="hold" nodeType="withEffect">
                                  <p:stCondLst>
                                    <p:cond delay="38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par>
                                <p:cTn id="62" presetID="10" presetClass="entr" presetSubtype="0" fill="hold" nodeType="withEffect">
                                  <p:stCondLst>
                                    <p:cond delay="38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50"/>
                                        <p:tgtEl>
                                          <p:spTgt spid="22"/>
                                        </p:tgtEl>
                                      </p:cBhvr>
                                    </p:animEffect>
                                  </p:childTnLst>
                                </p:cTn>
                              </p:par>
                              <p:par>
                                <p:cTn id="65" presetID="10" presetClass="entr" presetSubtype="0" fill="hold" nodeType="withEffect">
                                  <p:stCondLst>
                                    <p:cond delay="38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50"/>
                                        <p:tgtEl>
                                          <p:spTgt spid="23"/>
                                        </p:tgtEl>
                                      </p:cBhvr>
                                    </p:animEffect>
                                  </p:childTnLst>
                                </p:cTn>
                              </p:par>
                              <p:par>
                                <p:cTn id="68" presetID="10" presetClass="entr" presetSubtype="0" fill="hold" nodeType="withEffect">
                                  <p:stCondLst>
                                    <p:cond delay="38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50"/>
                                        <p:tgtEl>
                                          <p:spTgt spid="24"/>
                                        </p:tgtEl>
                                      </p:cBhvr>
                                    </p:animEffect>
                                  </p:childTnLst>
                                </p:cTn>
                              </p:par>
                              <p:par>
                                <p:cTn id="71" presetID="10" presetClass="entr" presetSubtype="0" fill="hold" nodeType="withEffect">
                                  <p:stCondLst>
                                    <p:cond delay="38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50"/>
                                        <p:tgtEl>
                                          <p:spTgt spid="25"/>
                                        </p:tgtEl>
                                      </p:cBhvr>
                                    </p:animEffect>
                                  </p:childTnLst>
                                </p:cTn>
                              </p:par>
                              <p:par>
                                <p:cTn id="74" presetID="10" presetClass="entr" presetSubtype="0" fill="hold" nodeType="withEffect">
                                  <p:stCondLst>
                                    <p:cond delay="38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50"/>
                                        <p:tgtEl>
                                          <p:spTgt spid="26"/>
                                        </p:tgtEl>
                                      </p:cBhvr>
                                    </p:animEffect>
                                  </p:childTnLst>
                                </p:cTn>
                              </p:par>
                              <p:par>
                                <p:cTn id="77" presetID="10" presetClass="entr" presetSubtype="0" fill="hold" nodeType="withEffect">
                                  <p:stCondLst>
                                    <p:cond delay="61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50"/>
                                        <p:tgtEl>
                                          <p:spTgt spid="27"/>
                                        </p:tgtEl>
                                      </p:cBhvr>
                                    </p:animEffect>
                                  </p:childTnLst>
                                </p:cTn>
                              </p:par>
                              <p:par>
                                <p:cTn id="80" presetID="10" presetClass="entr" presetSubtype="0" fill="hold" nodeType="withEffect">
                                  <p:stCondLst>
                                    <p:cond delay="61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50"/>
                                        <p:tgtEl>
                                          <p:spTgt spid="28"/>
                                        </p:tgtEl>
                                      </p:cBhvr>
                                    </p:animEffect>
                                  </p:childTnLst>
                                </p:cTn>
                              </p:par>
                              <p:par>
                                <p:cTn id="83" presetID="10" presetClass="entr" presetSubtype="0" fill="hold" nodeType="withEffect">
                                  <p:stCondLst>
                                    <p:cond delay="6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50"/>
                                        <p:tgtEl>
                                          <p:spTgt spid="29"/>
                                        </p:tgtEl>
                                      </p:cBhvr>
                                    </p:animEffect>
                                  </p:childTnLst>
                                </p:cTn>
                              </p:par>
                              <p:par>
                                <p:cTn id="86" presetID="10" presetClass="entr" presetSubtype="0" fill="hold" nodeType="withEffect">
                                  <p:stCondLst>
                                    <p:cond delay="61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50"/>
                                        <p:tgtEl>
                                          <p:spTgt spid="30"/>
                                        </p:tgtEl>
                                      </p:cBhvr>
                                    </p:animEffect>
                                  </p:childTnLst>
                                </p:cTn>
                              </p:par>
                              <p:par>
                                <p:cTn id="89" presetID="10" presetClass="entr" presetSubtype="0" fill="hold" nodeType="withEffect">
                                  <p:stCondLst>
                                    <p:cond delay="61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50"/>
                                        <p:tgtEl>
                                          <p:spTgt spid="31"/>
                                        </p:tgtEl>
                                      </p:cBhvr>
                                    </p:animEffect>
                                  </p:childTnLst>
                                </p:cTn>
                              </p:par>
                              <p:par>
                                <p:cTn id="92" presetID="10" presetClass="entr" presetSubtype="0" fill="hold" nodeType="withEffect">
                                  <p:stCondLst>
                                    <p:cond delay="61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450"/>
                                        <p:tgtEl>
                                          <p:spTgt spid="32"/>
                                        </p:tgtEl>
                                      </p:cBhvr>
                                    </p:animEffect>
                                  </p:childTnLst>
                                </p:cTn>
                              </p:par>
                              <p:par>
                                <p:cTn id="95" presetID="10" presetClass="entr" presetSubtype="0" fill="hold" nodeType="withEffect">
                                  <p:stCondLst>
                                    <p:cond delay="61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450"/>
                                        <p:tgtEl>
                                          <p:spTgt spid="33"/>
                                        </p:tgtEl>
                                      </p:cBhvr>
                                    </p:animEffect>
                                  </p:childTnLst>
                                </p:cTn>
                              </p:par>
                              <p:par>
                                <p:cTn id="98" presetID="10" presetClass="entr" presetSubtype="0" fill="hold" nodeType="withEffect">
                                  <p:stCondLst>
                                    <p:cond delay="61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450"/>
                                        <p:tgtEl>
                                          <p:spTgt spid="34"/>
                                        </p:tgtEl>
                                      </p:cBhvr>
                                    </p:animEffect>
                                  </p:childTnLst>
                                </p:cTn>
                              </p:par>
                              <p:par>
                                <p:cTn id="101" presetID="10" presetClass="entr" presetSubtype="0" fill="hold" nodeType="withEffect">
                                  <p:stCondLst>
                                    <p:cond delay="61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450"/>
                                        <p:tgtEl>
                                          <p:spTgt spid="35"/>
                                        </p:tgtEl>
                                      </p:cBhvr>
                                    </p:animEffect>
                                  </p:childTnLst>
                                </p:cTn>
                              </p:par>
                              <p:par>
                                <p:cTn id="104" presetID="10" presetClass="entr" presetSubtype="0" fill="hold" nodeType="withEffect">
                                  <p:stCondLst>
                                    <p:cond delay="61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450"/>
                                        <p:tgtEl>
                                          <p:spTgt spid="36"/>
                                        </p:tgtEl>
                                      </p:cBhvr>
                                    </p:animEffect>
                                  </p:childTnLst>
                                </p:cTn>
                              </p:par>
                              <p:par>
                                <p:cTn id="107" presetID="10" presetClass="entr" presetSubtype="0" fill="hold" nodeType="withEffect">
                                  <p:stCondLst>
                                    <p:cond delay="61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450"/>
                                        <p:tgtEl>
                                          <p:spTgt spid="37"/>
                                        </p:tgtEl>
                                      </p:cBhvr>
                                    </p:animEffect>
                                  </p:childTnLst>
                                </p:cTn>
                              </p:par>
                              <p:par>
                                <p:cTn id="110" presetID="10" presetClass="entr" presetSubtype="0" fill="hold" nodeType="withEffect">
                                  <p:stCondLst>
                                    <p:cond delay="61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046720" cy="685800"/>
          </a:xfrm>
          <a:prstGeom prst="rect">
            <a:avLst/>
          </a:prstGeom>
          <a:noFill/>
          <a:ln/>
        </p:spPr>
        <p:txBody>
          <a:bodyPr wrap="square" lIns="0" tIns="0" rIns="0" bIns="0" rtlCol="0" anchor="ctr"/>
          <a:lstStyle/>
          <a:p>
            <a:pPr algn="l" indent="0" marL="0">
              <a:buNone/>
            </a:pPr>
            <a:r>
              <a:rPr lang="en-US" sz="2800" b="1" dirty="0">
                <a:solidFill>
                  <a:srgbClr val="1F2328"/>
                </a:solidFill>
              </a:rPr>
              <a:t>Live demo &amp; future scope</a:t>
            </a:r>
            <a:endParaRPr lang="en-US" sz="2800" dirty="0"/>
          </a:p>
        </p:txBody>
      </p:sp>
      <p:sp>
        <p:nvSpPr>
          <p:cNvPr id="3" name="Shape 1"/>
          <p:cNvSpPr/>
          <p:nvPr/>
        </p:nvSpPr>
        <p:spPr>
          <a:xfrm>
            <a:off x="548640" y="1188720"/>
            <a:ext cx="4572000" cy="3291840"/>
          </a:xfrm>
          <a:prstGeom prst="roundRect">
            <a:avLst>
              <a:gd name="adj" fmla="val 2222"/>
            </a:avLst>
          </a:prstGeom>
          <a:solidFill>
            <a:srgbClr val="FFFFFF"/>
          </a:solidFill>
          <a:ln w="9525">
            <a:solidFill>
              <a:srgbClr val="E5E7EB"/>
            </a:solidFill>
            <a:prstDash val="solid"/>
          </a:ln>
          <a:effectLst>
            <a:outerShdw sx="100000" sy="100000" kx="0" ky="0" algn="bl" rotWithShape="0" blurRad="101600" dist="25400" dir="5400000">
              <a:srgbClr val="1F2328">
                <a:alpha val="6000"/>
              </a:srgbClr>
            </a:outerShdw>
          </a:effectLst>
        </p:spPr>
      </p:sp>
      <p:sp>
        <p:nvSpPr>
          <p:cNvPr id="4" name="Shape 2"/>
          <p:cNvSpPr/>
          <p:nvPr/>
        </p:nvSpPr>
        <p:spPr>
          <a:xfrm>
            <a:off x="777240" y="1371600"/>
            <a:ext cx="1234440" cy="256032"/>
          </a:xfrm>
          <a:prstGeom prst="roundRect">
            <a:avLst>
              <a:gd name="adj" fmla="val 50000"/>
            </a:avLst>
          </a:prstGeom>
          <a:solidFill>
            <a:srgbClr val="E3F4EC"/>
          </a:solidFill>
          <a:ln w="12700">
            <a:solidFill>
              <a:srgbClr val="E3F4EC"/>
            </a:solidFill>
            <a:prstDash val="solid"/>
          </a:ln>
        </p:spPr>
      </p:sp>
      <p:sp>
        <p:nvSpPr>
          <p:cNvPr id="5" name="Text 3"/>
          <p:cNvSpPr txBox="1"/>
          <p:nvPr/>
        </p:nvSpPr>
        <p:spPr>
          <a:xfrm>
            <a:off x="777240" y="1371600"/>
            <a:ext cx="1234440" cy="256032"/>
          </a:xfrm>
          <a:prstGeom prst="rect">
            <a:avLst/>
          </a:prstGeom>
          <a:noFill/>
          <a:ln/>
        </p:spPr>
        <p:txBody>
          <a:bodyPr wrap="square" lIns="0" tIns="0" rIns="0" bIns="0" rtlCol="0" anchor="ctr"/>
          <a:lstStyle/>
          <a:p>
            <a:pPr algn="ctr" indent="0" marL="0">
              <a:buNone/>
            </a:pPr>
            <a:r>
              <a:rPr lang="en-US" sz="1000" b="1" dirty="0">
                <a:solidFill>
                  <a:srgbClr val="1F8A5B"/>
                </a:solidFill>
              </a:rPr>
              <a:t>WORKS TODAY</a:t>
            </a:r>
            <a:endParaRPr lang="en-US" sz="1000" dirty="0"/>
          </a:p>
        </p:txBody>
      </p:sp>
      <p:sp>
        <p:nvSpPr>
          <p:cNvPr id="6" name="Text 4"/>
          <p:cNvSpPr txBox="1"/>
          <p:nvPr/>
        </p:nvSpPr>
        <p:spPr>
          <a:xfrm>
            <a:off x="777240" y="1783080"/>
            <a:ext cx="4160520" cy="20116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328"/>
                </a:solidFill>
              </a:rPr>
              <a:t>Secure sign-up, login and email verification</a:t>
            </a:r>
            <a:endParaRPr lang="en-US" sz="1250" dirty="0"/>
          </a:p>
          <a:p>
            <a:pPr marL="342900" indent="-342900">
              <a:spcAft>
                <a:spcPts val="600"/>
              </a:spcAft>
              <a:buSzPct val="100000"/>
              <a:buChar char="•"/>
            </a:pPr>
            <a:r>
              <a:rPr lang="en-US" sz="1250" dirty="0">
                <a:solidFill>
                  <a:srgbClr val="1F2328"/>
                </a:solidFill>
              </a:rPr>
              <a:t>Projects, members and task assignment</a:t>
            </a:r>
            <a:endParaRPr lang="en-US" sz="1250" dirty="0"/>
          </a:p>
          <a:p>
            <a:pPr marL="342900" indent="-342900">
              <a:spcAft>
                <a:spcPts val="600"/>
              </a:spcAft>
              <a:buSzPct val="100000"/>
              <a:buChar char="•"/>
            </a:pPr>
            <a:r>
              <a:rPr lang="en-US" sz="1250" dirty="0">
                <a:solidFill>
                  <a:srgbClr val="1F2328"/>
                </a:solidFill>
              </a:rPr>
              <a:t>Submissions with lead approval or revision</a:t>
            </a:r>
            <a:endParaRPr lang="en-US" sz="1250" dirty="0"/>
          </a:p>
          <a:p>
            <a:pPr marL="342900" indent="-342900">
              <a:spcAft>
                <a:spcPts val="600"/>
              </a:spcAft>
              <a:buSzPct val="100000"/>
              <a:buChar char="•"/>
            </a:pPr>
            <a:r>
              <a:rPr lang="en-US" sz="1250" dirty="0">
                <a:solidFill>
                  <a:srgbClr val="1F2328"/>
                </a:solidFill>
              </a:rPr>
              <a:t>Daily progress check-ins</a:t>
            </a:r>
            <a:endParaRPr lang="en-US" sz="1250" dirty="0"/>
          </a:p>
          <a:p>
            <a:pPr marL="342900" indent="-342900">
              <a:spcAft>
                <a:spcPts val="600"/>
              </a:spcAft>
              <a:buSzPct val="100000"/>
              <a:buChar char="•"/>
            </a:pPr>
            <a:r>
              <a:rPr lang="en-US" sz="1250" dirty="0">
                <a:solidFill>
                  <a:srgbClr val="1F2328"/>
                </a:solidFill>
              </a:rPr>
              <a:t>AI risk insights with evidence + message drafts</a:t>
            </a:r>
            <a:endParaRPr lang="en-US" sz="1250" dirty="0"/>
          </a:p>
          <a:p>
            <a:pPr marL="342900" indent="-342900">
              <a:spcAft>
                <a:spcPts val="600"/>
              </a:spcAft>
              <a:buSzPct val="100000"/>
              <a:buChar char="•"/>
            </a:pPr>
            <a:r>
              <a:rPr lang="en-US" sz="1250" dirty="0">
                <a:solidFill>
                  <a:srgbClr val="1F2328"/>
                </a:solidFill>
              </a:rPr>
              <a:t>In-app notifications and WhatsApp alerts</a:t>
            </a:r>
            <a:endParaRPr lang="en-US" sz="1250" dirty="0"/>
          </a:p>
        </p:txBody>
      </p:sp>
      <p:sp>
        <p:nvSpPr>
          <p:cNvPr id="7" name="Text 5"/>
          <p:cNvSpPr txBox="1"/>
          <p:nvPr/>
        </p:nvSpPr>
        <p:spPr>
          <a:xfrm>
            <a:off x="777240" y="3886200"/>
            <a:ext cx="4160520" cy="457200"/>
          </a:xfrm>
          <a:prstGeom prst="rect">
            <a:avLst/>
          </a:prstGeom>
          <a:noFill/>
          <a:ln/>
        </p:spPr>
        <p:txBody>
          <a:bodyPr wrap="square" lIns="0" tIns="0" rIns="0" bIns="0" rtlCol="0" anchor="t"/>
          <a:lstStyle/>
          <a:p>
            <a:pPr indent="0" marL="0">
              <a:buNone/>
            </a:pPr>
            <a:r>
              <a:rPr lang="en-US" sz="1050" b="1" dirty="0">
                <a:solidFill>
                  <a:srgbClr val="5B4FCF"/>
                </a:solidFill>
              </a:rPr>
              <a:t>Demo: lead assigns → member submits → AI flags a stalled task → lead sends support</a:t>
            </a:r>
            <a:endParaRPr lang="en-US" sz="1050" dirty="0"/>
          </a:p>
        </p:txBody>
      </p:sp>
      <p:sp>
        <p:nvSpPr>
          <p:cNvPr id="8" name="Shape 6"/>
          <p:cNvSpPr/>
          <p:nvPr/>
        </p:nvSpPr>
        <p:spPr>
          <a:xfrm>
            <a:off x="5303520" y="1188720"/>
            <a:ext cx="3291840" cy="3291840"/>
          </a:xfrm>
          <a:prstGeom prst="roundRect">
            <a:avLst>
              <a:gd name="adj" fmla="val 2222"/>
            </a:avLst>
          </a:prstGeom>
          <a:solidFill>
            <a:srgbClr val="EEEDFB"/>
          </a:solidFill>
          <a:ln w="9525">
            <a:solidFill>
              <a:srgbClr val="DAD7F7"/>
            </a:solidFill>
            <a:prstDash val="solid"/>
          </a:ln>
        </p:spPr>
      </p:sp>
      <p:sp>
        <p:nvSpPr>
          <p:cNvPr id="9" name="Shape 7"/>
          <p:cNvSpPr/>
          <p:nvPr/>
        </p:nvSpPr>
        <p:spPr>
          <a:xfrm>
            <a:off x="5532120" y="1371600"/>
            <a:ext cx="868680" cy="256032"/>
          </a:xfrm>
          <a:prstGeom prst="roundRect">
            <a:avLst>
              <a:gd name="adj" fmla="val 50000"/>
            </a:avLst>
          </a:prstGeom>
          <a:solidFill>
            <a:srgbClr val="FFFFFF"/>
          </a:solidFill>
          <a:ln w="12700">
            <a:solidFill>
              <a:srgbClr val="FFFFFF"/>
            </a:solidFill>
            <a:prstDash val="solid"/>
          </a:ln>
        </p:spPr>
      </p:sp>
      <p:sp>
        <p:nvSpPr>
          <p:cNvPr id="10" name="Text 8"/>
          <p:cNvSpPr txBox="1"/>
          <p:nvPr/>
        </p:nvSpPr>
        <p:spPr>
          <a:xfrm>
            <a:off x="5532120" y="1371600"/>
            <a:ext cx="868680" cy="256032"/>
          </a:xfrm>
          <a:prstGeom prst="rect">
            <a:avLst/>
          </a:prstGeom>
          <a:noFill/>
          <a:ln/>
        </p:spPr>
        <p:txBody>
          <a:bodyPr wrap="square" lIns="0" tIns="0" rIns="0" bIns="0" rtlCol="0" anchor="ctr"/>
          <a:lstStyle/>
          <a:p>
            <a:pPr algn="ctr" indent="0" marL="0">
              <a:buNone/>
            </a:pPr>
            <a:r>
              <a:rPr lang="en-US" sz="1000" b="1" dirty="0">
                <a:solidFill>
                  <a:srgbClr val="5B4FCF"/>
                </a:solidFill>
              </a:rPr>
              <a:t>FUTURE</a:t>
            </a:r>
            <a:endParaRPr lang="en-US" sz="1000" dirty="0"/>
          </a:p>
        </p:txBody>
      </p:sp>
      <p:sp>
        <p:nvSpPr>
          <p:cNvPr id="11" name="Text 9"/>
          <p:cNvSpPr txBox="1"/>
          <p:nvPr/>
        </p:nvSpPr>
        <p:spPr>
          <a:xfrm>
            <a:off x="5532120" y="1810512"/>
            <a:ext cx="2880360" cy="237744"/>
          </a:xfrm>
          <a:prstGeom prst="rect">
            <a:avLst/>
          </a:prstGeom>
          <a:noFill/>
          <a:ln/>
        </p:spPr>
        <p:txBody>
          <a:bodyPr wrap="square" lIns="0" tIns="0" rIns="0" bIns="0" rtlCol="0" anchor="t"/>
          <a:lstStyle/>
          <a:p>
            <a:pPr indent="0" marL="0">
              <a:buNone/>
            </a:pPr>
            <a:r>
              <a:rPr lang="en-US" sz="1250" b="1" dirty="0">
                <a:solidFill>
                  <a:srgbClr val="1F2328"/>
                </a:solidFill>
              </a:rPr>
              <a:t>GitHub activity signals</a:t>
            </a:r>
            <a:endParaRPr lang="en-US" sz="1250" dirty="0"/>
          </a:p>
        </p:txBody>
      </p:sp>
      <p:sp>
        <p:nvSpPr>
          <p:cNvPr id="12" name="Text 10"/>
          <p:cNvSpPr txBox="1"/>
          <p:nvPr/>
        </p:nvSpPr>
        <p:spPr>
          <a:xfrm>
            <a:off x="5532120" y="2048256"/>
            <a:ext cx="2880360" cy="228600"/>
          </a:xfrm>
          <a:prstGeom prst="rect">
            <a:avLst/>
          </a:prstGeom>
          <a:noFill/>
          <a:ln/>
        </p:spPr>
        <p:txBody>
          <a:bodyPr wrap="square" lIns="0" tIns="0" rIns="0" bIns="0" rtlCol="0" anchor="t"/>
          <a:lstStyle/>
          <a:p>
            <a:pPr indent="0" marL="0">
              <a:buNone/>
            </a:pPr>
            <a:r>
              <a:rPr lang="en-US" sz="1050" dirty="0">
                <a:solidFill>
                  <a:srgbClr val="6B7280"/>
                </a:solidFill>
              </a:rPr>
              <a:t>Commit data as extra evidence</a:t>
            </a:r>
            <a:endParaRPr lang="en-US" sz="1050" dirty="0"/>
          </a:p>
        </p:txBody>
      </p:sp>
      <p:sp>
        <p:nvSpPr>
          <p:cNvPr id="13" name="Text 11"/>
          <p:cNvSpPr txBox="1"/>
          <p:nvPr/>
        </p:nvSpPr>
        <p:spPr>
          <a:xfrm>
            <a:off x="5532120" y="2450592"/>
            <a:ext cx="2880360" cy="237744"/>
          </a:xfrm>
          <a:prstGeom prst="rect">
            <a:avLst/>
          </a:prstGeom>
          <a:noFill/>
          <a:ln/>
        </p:spPr>
        <p:txBody>
          <a:bodyPr wrap="square" lIns="0" tIns="0" rIns="0" bIns="0" rtlCol="0" anchor="t"/>
          <a:lstStyle/>
          <a:p>
            <a:pPr indent="0" marL="0">
              <a:buNone/>
            </a:pPr>
            <a:r>
              <a:rPr lang="en-US" sz="1250" b="1" dirty="0">
                <a:solidFill>
                  <a:srgbClr val="1F2328"/>
                </a:solidFill>
              </a:rPr>
              <a:t>Mobile app</a:t>
            </a:r>
            <a:endParaRPr lang="en-US" sz="1250" dirty="0"/>
          </a:p>
        </p:txBody>
      </p:sp>
      <p:sp>
        <p:nvSpPr>
          <p:cNvPr id="14" name="Text 12"/>
          <p:cNvSpPr txBox="1"/>
          <p:nvPr/>
        </p:nvSpPr>
        <p:spPr>
          <a:xfrm>
            <a:off x="5532120" y="2688336"/>
            <a:ext cx="2880360" cy="228600"/>
          </a:xfrm>
          <a:prstGeom prst="rect">
            <a:avLst/>
          </a:prstGeom>
          <a:noFill/>
          <a:ln/>
        </p:spPr>
        <p:txBody>
          <a:bodyPr wrap="square" lIns="0" tIns="0" rIns="0" bIns="0" rtlCol="0" anchor="t"/>
          <a:lstStyle/>
          <a:p>
            <a:pPr indent="0" marL="0">
              <a:buNone/>
            </a:pPr>
            <a:r>
              <a:rPr lang="en-US" sz="1050" dirty="0">
                <a:solidFill>
                  <a:srgbClr val="6B7280"/>
                </a:solidFill>
              </a:rPr>
              <a:t>Check-ins on the go</a:t>
            </a:r>
            <a:endParaRPr lang="en-US" sz="1050" dirty="0"/>
          </a:p>
        </p:txBody>
      </p:sp>
      <p:sp>
        <p:nvSpPr>
          <p:cNvPr id="15" name="Text 13"/>
          <p:cNvSpPr txBox="1"/>
          <p:nvPr/>
        </p:nvSpPr>
        <p:spPr>
          <a:xfrm>
            <a:off x="5532120" y="3090672"/>
            <a:ext cx="2880360" cy="237744"/>
          </a:xfrm>
          <a:prstGeom prst="rect">
            <a:avLst/>
          </a:prstGeom>
          <a:noFill/>
          <a:ln/>
        </p:spPr>
        <p:txBody>
          <a:bodyPr wrap="square" lIns="0" tIns="0" rIns="0" bIns="0" rtlCol="0" anchor="t"/>
          <a:lstStyle/>
          <a:p>
            <a:pPr indent="0" marL="0">
              <a:buNone/>
            </a:pPr>
            <a:r>
              <a:rPr lang="en-US" sz="1250" b="1" dirty="0">
                <a:solidFill>
                  <a:srgbClr val="1F2328"/>
                </a:solidFill>
              </a:rPr>
              <a:t>Urdu voice check-ins</a:t>
            </a:r>
            <a:endParaRPr lang="en-US" sz="1250" dirty="0"/>
          </a:p>
        </p:txBody>
      </p:sp>
      <p:sp>
        <p:nvSpPr>
          <p:cNvPr id="16" name="Text 14"/>
          <p:cNvSpPr txBox="1"/>
          <p:nvPr/>
        </p:nvSpPr>
        <p:spPr>
          <a:xfrm>
            <a:off x="5532120" y="3328416"/>
            <a:ext cx="2880360" cy="228600"/>
          </a:xfrm>
          <a:prstGeom prst="rect">
            <a:avLst/>
          </a:prstGeom>
          <a:noFill/>
          <a:ln/>
        </p:spPr>
        <p:txBody>
          <a:bodyPr wrap="square" lIns="0" tIns="0" rIns="0" bIns="0" rtlCol="0" anchor="t"/>
          <a:lstStyle/>
          <a:p>
            <a:pPr indent="0" marL="0">
              <a:buNone/>
            </a:pPr>
            <a:r>
              <a:rPr lang="en-US" sz="1050" dirty="0">
                <a:solidFill>
                  <a:srgbClr val="6B7280"/>
                </a:solidFill>
              </a:rPr>
              <a:t>Speak updates instead of typing</a:t>
            </a:r>
            <a:endParaRPr lang="en-US" sz="1050" dirty="0"/>
          </a:p>
        </p:txBody>
      </p:sp>
      <p:sp>
        <p:nvSpPr>
          <p:cNvPr id="17" name="Text 15"/>
          <p:cNvSpPr txBox="1"/>
          <p:nvPr/>
        </p:nvSpPr>
        <p:spPr>
          <a:xfrm>
            <a:off x="5532120" y="3730752"/>
            <a:ext cx="2880360" cy="237744"/>
          </a:xfrm>
          <a:prstGeom prst="rect">
            <a:avLst/>
          </a:prstGeom>
          <a:noFill/>
          <a:ln/>
        </p:spPr>
        <p:txBody>
          <a:bodyPr wrap="square" lIns="0" tIns="0" rIns="0" bIns="0" rtlCol="0" anchor="t"/>
          <a:lstStyle/>
          <a:p>
            <a:pPr indent="0" marL="0">
              <a:buNone/>
            </a:pPr>
            <a:r>
              <a:rPr lang="en-US" sz="1250" b="1" dirty="0">
                <a:solidFill>
                  <a:srgbClr val="1F2328"/>
                </a:solidFill>
              </a:rPr>
              <a:t>Workload analytics</a:t>
            </a:r>
            <a:endParaRPr lang="en-US" sz="1250" dirty="0"/>
          </a:p>
        </p:txBody>
      </p:sp>
      <p:sp>
        <p:nvSpPr>
          <p:cNvPr id="18" name="Text 16"/>
          <p:cNvSpPr txBox="1"/>
          <p:nvPr/>
        </p:nvSpPr>
        <p:spPr>
          <a:xfrm>
            <a:off x="5532120" y="3968496"/>
            <a:ext cx="2880360" cy="228600"/>
          </a:xfrm>
          <a:prstGeom prst="rect">
            <a:avLst/>
          </a:prstGeom>
          <a:noFill/>
          <a:ln/>
        </p:spPr>
        <p:txBody>
          <a:bodyPr wrap="square" lIns="0" tIns="0" rIns="0" bIns="0" rtlCol="0" anchor="t"/>
          <a:lstStyle/>
          <a:p>
            <a:pPr indent="0" marL="0">
              <a:buNone/>
            </a:pPr>
            <a:r>
              <a:rPr lang="en-US" sz="1050" dirty="0">
                <a:solidFill>
                  <a:srgbClr val="6B7280"/>
                </a:solidFill>
              </a:rPr>
              <a:t>Balance tasks across the team</a:t>
            </a:r>
            <a:endParaRPr lang="en-US" sz="1050" dirty="0"/>
          </a:p>
        </p:txBody>
      </p:sp>
      <p:sp>
        <p:nvSpPr>
          <p:cNvPr id="19"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10" presetClass="entr" presetSubtype="0" fill="hold" nodeType="withEffect">
                                  <p:stCondLst>
                                    <p:cond delay="1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nodeType="withEffect">
                                  <p:stCondLst>
                                    <p:cond delay="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nodeType="withEffect">
                                  <p:stCondLst>
                                    <p:cond delay="38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nodeType="withEffect">
                                  <p:stCondLst>
                                    <p:cond delay="38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nodeType="withEffect">
                                  <p:stCondLst>
                                    <p:cond delay="38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nodeType="withEffect">
                                  <p:stCondLst>
                                    <p:cond delay="38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par>
                                <p:cTn id="32" presetID="10" presetClass="entr" presetSubtype="0" fill="hold" nodeType="withEffect">
                                  <p:stCondLst>
                                    <p:cond delay="38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10" presetClass="entr" presetSubtype="0" fill="hold" nodeType="withEffect">
                                  <p:stCondLst>
                                    <p:cond delay="38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50"/>
                                        <p:tgtEl>
                                          <p:spTgt spid="13"/>
                                        </p:tgtEl>
                                      </p:cBhvr>
                                    </p:animEffect>
                                  </p:childTnLst>
                                </p:cTn>
                              </p:par>
                              <p:par>
                                <p:cTn id="38" presetID="10" presetClass="entr" presetSubtype="0" fill="hold" nodeType="withEffect">
                                  <p:stCondLst>
                                    <p:cond delay="38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par>
                                <p:cTn id="41" presetID="10" presetClass="entr" presetSubtype="0" fill="hold" nodeType="withEffect">
                                  <p:stCondLst>
                                    <p:cond delay="38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50"/>
                                        <p:tgtEl>
                                          <p:spTgt spid="15"/>
                                        </p:tgtEl>
                                      </p:cBhvr>
                                    </p:animEffect>
                                  </p:childTnLst>
                                </p:cTn>
                              </p:par>
                              <p:par>
                                <p:cTn id="44" presetID="10" presetClass="entr" presetSubtype="0" fill="hold" nodeType="withEffect">
                                  <p:stCondLst>
                                    <p:cond delay="38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50"/>
                                        <p:tgtEl>
                                          <p:spTgt spid="16"/>
                                        </p:tgtEl>
                                      </p:cBhvr>
                                    </p:animEffect>
                                  </p:childTnLst>
                                </p:cTn>
                              </p:par>
                              <p:par>
                                <p:cTn id="47" presetID="10" presetClass="entr" presetSubtype="0" fill="hold" nodeType="withEffect">
                                  <p:stCondLst>
                                    <p:cond delay="38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childTnLst>
                                </p:cTn>
                              </p:par>
                              <p:par>
                                <p:cTn id="50" presetID="10" presetClass="entr" presetSubtype="0" fill="hold" nodeType="withEffect">
                                  <p:stCondLst>
                                    <p:cond delay="38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669280" y="822960"/>
            <a:ext cx="3474720" cy="3474720"/>
          </a:xfrm>
          <a:prstGeom prst="ellipse">
            <a:avLst/>
          </a:prstGeom>
          <a:solidFill>
            <a:srgbClr val="EEEDFB"/>
          </a:solidFill>
          <a:ln w="12700">
            <a:solidFill>
              <a:srgbClr val="EEEDFB"/>
            </a:solidFill>
            <a:prstDash val="solid"/>
          </a:ln>
        </p:spPr>
      </p:sp>
      <p:sp>
        <p:nvSpPr>
          <p:cNvPr id="3" name="Shape 1"/>
          <p:cNvSpPr/>
          <p:nvPr/>
        </p:nvSpPr>
        <p:spPr>
          <a:xfrm>
            <a:off x="6355080" y="1508760"/>
            <a:ext cx="2103120" cy="2103120"/>
          </a:xfrm>
          <a:prstGeom prst="ellipse">
            <a:avLst/>
          </a:prstGeom>
          <a:solidFill>
            <a:srgbClr val="DCD9F8"/>
          </a:solidFill>
          <a:ln w="12700">
            <a:solidFill>
              <a:srgbClr val="DCD9F8"/>
            </a:solidFill>
            <a:prstDash val="solid"/>
          </a:ln>
        </p:spPr>
      </p:sp>
      <p:pic>
        <p:nvPicPr>
          <p:cNvPr id="4" name="Image 0" descr="TeamPulse AI logo">    </p:cNvPr>
          <p:cNvPicPr>
            <a:picLocks noChangeAspect="1"/>
          </p:cNvPicPr>
          <p:nvPr/>
        </p:nvPicPr>
        <p:blipFill>
          <a:blip r:embed="rId1"/>
          <a:stretch>
            <a:fillRect/>
          </a:stretch>
        </p:blipFill>
        <p:spPr>
          <a:xfrm>
            <a:off x="6903720" y="2057400"/>
            <a:ext cx="1005840" cy="1005840"/>
          </a:xfrm>
          <a:prstGeom prst="rect">
            <a:avLst/>
          </a:prstGeom>
        </p:spPr>
      </p:pic>
      <p:sp>
        <p:nvSpPr>
          <p:cNvPr id="5" name="Text 2"/>
          <p:cNvSpPr txBox="1"/>
          <p:nvPr/>
        </p:nvSpPr>
        <p:spPr>
          <a:xfrm>
            <a:off x="548640" y="1005840"/>
            <a:ext cx="4572000" cy="274320"/>
          </a:xfrm>
          <a:prstGeom prst="rect">
            <a:avLst/>
          </a:prstGeom>
          <a:noFill/>
          <a:ln/>
        </p:spPr>
        <p:txBody>
          <a:bodyPr wrap="square" lIns="0" tIns="0" rIns="0" bIns="0" rtlCol="0" anchor="t"/>
          <a:lstStyle/>
          <a:p>
            <a:pPr indent="0" marL="0">
              <a:buNone/>
            </a:pPr>
            <a:r>
              <a:rPr lang="en-US" sz="1200" b="1" spc="300" kern="0" dirty="0">
                <a:solidFill>
                  <a:srgbClr val="5B4FCF"/>
                </a:solidFill>
              </a:rPr>
              <a:t>THANK YOU</a:t>
            </a:r>
            <a:endParaRPr lang="en-US" sz="1200" dirty="0"/>
          </a:p>
        </p:txBody>
      </p:sp>
      <p:sp>
        <p:nvSpPr>
          <p:cNvPr id="6" name="Text 3"/>
          <p:cNvSpPr txBox="1"/>
          <p:nvPr/>
        </p:nvSpPr>
        <p:spPr>
          <a:xfrm>
            <a:off x="548640" y="1371600"/>
            <a:ext cx="4937760" cy="1280160"/>
          </a:xfrm>
          <a:prstGeom prst="rect">
            <a:avLst/>
          </a:prstGeom>
          <a:noFill/>
          <a:ln/>
        </p:spPr>
        <p:txBody>
          <a:bodyPr wrap="square" lIns="0" tIns="0" rIns="0" bIns="0" rtlCol="0" anchor="t"/>
          <a:lstStyle/>
          <a:p>
            <a:pPr indent="0" marL="0">
              <a:buNone/>
            </a:pPr>
            <a:r>
              <a:rPr lang="en-US" sz="3600" b="1" dirty="0">
                <a:solidFill>
                  <a:srgbClr val="1F2328"/>
                </a:solidFill>
              </a:rPr>
              <a:t>See risks earlier.</a:t>
            </a:r>
            <a:endParaRPr lang="en-US" sz="3600" dirty="0"/>
          </a:p>
          <a:p>
            <a:pPr indent="0" marL="0">
              <a:buNone/>
            </a:pPr>
            <a:r>
              <a:rPr lang="en-US" sz="3600" b="1" dirty="0">
                <a:solidFill>
                  <a:srgbClr val="1F2328"/>
                </a:solidFill>
              </a:rPr>
              <a:t>Keep teams moving.</a:t>
            </a:r>
            <a:endParaRPr lang="en-US" sz="3600" dirty="0"/>
          </a:p>
        </p:txBody>
      </p:sp>
      <p:sp>
        <p:nvSpPr>
          <p:cNvPr id="7" name="Text 4"/>
          <p:cNvSpPr txBox="1"/>
          <p:nvPr/>
        </p:nvSpPr>
        <p:spPr>
          <a:xfrm>
            <a:off x="548640" y="2743200"/>
            <a:ext cx="4572000" cy="685800"/>
          </a:xfrm>
          <a:prstGeom prst="rect">
            <a:avLst/>
          </a:prstGeom>
          <a:noFill/>
          <a:ln/>
        </p:spPr>
        <p:txBody>
          <a:bodyPr wrap="square" lIns="0" tIns="0" rIns="0" bIns="0" rtlCol="0" anchor="t"/>
          <a:lstStyle/>
          <a:p>
            <a:pPr indent="0" marL="0">
              <a:buNone/>
            </a:pPr>
            <a:r>
              <a:rPr lang="en-US" sz="1300" dirty="0">
                <a:solidFill>
                  <a:srgbClr val="6B7280"/>
                </a:solidFill>
              </a:rPr>
              <a:t>TeamPulse AI helps leads support their team before deadlines slip, with clear ownership, timely notifications and evidence-based AI insights.</a:t>
            </a:r>
            <a:endParaRPr lang="en-US" sz="1300" dirty="0"/>
          </a:p>
        </p:txBody>
      </p:sp>
      <p:sp>
        <p:nvSpPr>
          <p:cNvPr id="8" name="Text 5"/>
          <p:cNvSpPr txBox="1"/>
          <p:nvPr/>
        </p:nvSpPr>
        <p:spPr>
          <a:xfrm>
            <a:off x="548640" y="3611880"/>
            <a:ext cx="4572000" cy="411480"/>
          </a:xfrm>
          <a:prstGeom prst="rect">
            <a:avLst/>
          </a:prstGeom>
          <a:noFill/>
          <a:ln/>
        </p:spPr>
        <p:txBody>
          <a:bodyPr wrap="square" lIns="0" tIns="0" rIns="0" bIns="0" rtlCol="0" anchor="t"/>
          <a:lstStyle/>
          <a:p>
            <a:pPr indent="0" marL="0">
              <a:buNone/>
            </a:pPr>
            <a:r>
              <a:rPr lang="en-US" sz="2200" b="1" dirty="0">
                <a:solidFill>
                  <a:srgbClr val="5B4FCF"/>
                </a:solidFill>
              </a:rPr>
              <a:t>Questions?</a:t>
            </a:r>
            <a:endParaRPr lang="en-US" sz="2200" dirty="0"/>
          </a:p>
        </p:txBody>
      </p:sp>
      <p:sp>
        <p:nvSpPr>
          <p:cNvPr id="9" name="Text 6"/>
          <p:cNvSpPr txBox="1"/>
          <p:nvPr/>
        </p:nvSpPr>
        <p:spPr>
          <a:xfrm>
            <a:off x="548640" y="4434840"/>
            <a:ext cx="5486400" cy="228600"/>
          </a:xfrm>
          <a:prstGeom prst="rect">
            <a:avLst/>
          </a:prstGeom>
          <a:noFill/>
          <a:ln/>
        </p:spPr>
        <p:txBody>
          <a:bodyPr wrap="square" lIns="0" tIns="0" rIns="0" bIns="0" rtlCol="0" anchor="t"/>
          <a:lstStyle/>
          <a:p>
            <a:pPr indent="0" marL="0">
              <a:buNone/>
            </a:pPr>
            <a:r>
              <a:rPr lang="en-US" sz="1000" dirty="0">
                <a:solidFill>
                  <a:srgbClr val="6B7280"/>
                </a:solidFill>
              </a:rPr>
              <a:t>Muhammad Hashim · Muhammad Saffi Ullah · Group ___</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nodeType="withEffect">
                                  <p:stCondLst>
                                    <p:cond delay="38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61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nodeType="withEffect">
                                  <p:stCondLst>
                                    <p:cond delay="84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450"/>
                                        <p:tgtEl>
                                          <p:spTgt spid="3"/>
                                        </p:tgtEl>
                                      </p:cBhvr>
                                    </p:animEffect>
                                  </p:childTnLst>
                                </p:cTn>
                              </p:par>
                              <p:par>
                                <p:cTn id="17" presetID="10" presetClass="entr" presetSubtype="0" fill="hold" nodeType="withEffect">
                                  <p:stCondLst>
                                    <p:cond delay="107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450"/>
                                        <p:tgtEl>
                                          <p:spTgt spid="4"/>
                                        </p:tgtEl>
                                      </p:cBhvr>
                                    </p:animEffect>
                                  </p:childTnLst>
                                </p:cTn>
                              </p:par>
                              <p:par>
                                <p:cTn id="20" presetID="10" presetClass="entr" presetSubtype="0" fill="hold" nodeType="withEffect">
                                  <p:stCondLst>
                                    <p:cond delay="13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par>
                                <p:cTn id="23" presetID="10" presetClass="entr" presetSubtype="0" fill="hold" nodeType="withEffect">
                                  <p:stCondLst>
                                    <p:cond delay="153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nodeType="withEffect">
                                  <p:stCondLst>
                                    <p:cond delay="17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046720" cy="685800"/>
          </a:xfrm>
          <a:prstGeom prst="rect">
            <a:avLst/>
          </a:prstGeom>
          <a:noFill/>
          <a:ln/>
        </p:spPr>
        <p:txBody>
          <a:bodyPr wrap="square" lIns="0" tIns="0" rIns="0" bIns="0" rtlCol="0" anchor="ctr"/>
          <a:lstStyle/>
          <a:p>
            <a:pPr algn="l" indent="0" marL="0">
              <a:buNone/>
            </a:pPr>
            <a:r>
              <a:rPr lang="en-US" sz="2800" b="1" dirty="0">
                <a:solidFill>
                  <a:srgbClr val="1F2328"/>
                </a:solidFill>
              </a:rPr>
              <a:t>Product walkthrough</a:t>
            </a:r>
            <a:endParaRPr lang="en-US" sz="2800" dirty="0"/>
          </a:p>
        </p:txBody>
      </p:sp>
      <p:sp>
        <p:nvSpPr>
          <p:cNvPr id="3" name="Shape 1"/>
          <p:cNvSpPr/>
          <p:nvPr/>
        </p:nvSpPr>
        <p:spPr>
          <a:xfrm>
            <a:off x="1481328" y="1005840"/>
            <a:ext cx="6181344" cy="3541014"/>
          </a:xfrm>
          <a:prstGeom prst="roundRect">
            <a:avLst>
              <a:gd name="adj" fmla="val 2582"/>
            </a:avLst>
          </a:prstGeom>
          <a:solidFill>
            <a:srgbClr val="FFFFFF"/>
          </a:solidFill>
          <a:ln w="9525">
            <a:solidFill>
              <a:srgbClr val="E5E7EB"/>
            </a:solidFill>
            <a:prstDash val="solid"/>
          </a:ln>
          <a:effectLst>
            <a:outerShdw sx="100000" sy="100000" kx="0" ky="0" algn="bl" rotWithShape="0" blurRad="177800" dist="50800" dir="5400000">
              <a:srgbClr val="1F2328">
                <a:alpha val="12000"/>
              </a:srgbClr>
            </a:outerShdw>
          </a:effectLst>
        </p:spPr>
      </p:sp>
      <p:pic>
        <p:nvPicPr>
          <p:cNvPr id="4" name="TeamPulse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554480" y="1078992"/>
            <a:ext cx="6035040" cy="3394710"/>
          </a:xfrm>
          <a:prstGeom prst="rect">
            <a:avLst/>
          </a:prstGeom>
        </p:spPr>
      </p:pic>
      <p:sp>
        <p:nvSpPr>
          <p:cNvPr id="5" name="Text 2"/>
          <p:cNvSpPr txBox="1"/>
          <p:nvPr/>
        </p:nvSpPr>
        <p:spPr>
          <a:xfrm>
            <a:off x="1554480" y="4620006"/>
            <a:ext cx="6035040" cy="182880"/>
          </a:xfrm>
          <a:prstGeom prst="rect">
            <a:avLst/>
          </a:prstGeom>
          <a:noFill/>
          <a:ln/>
        </p:spPr>
        <p:txBody>
          <a:bodyPr wrap="square" lIns="0" tIns="0" rIns="0" bIns="0" rtlCol="0" anchor="t"/>
          <a:lstStyle/>
          <a:p>
            <a:pPr algn="ctr" indent="0" marL="0">
              <a:buNone/>
            </a:pPr>
            <a:r>
              <a:rPr lang="en-US" sz="900" dirty="0">
                <a:solidFill>
                  <a:srgbClr val="6B7280"/>
                </a:solidFill>
              </a:rPr>
              <a:t>25 seconds · illustrative demo data</a:t>
            </a:r>
            <a:endParaRPr lang="en-US" sz="900" dirty="0"/>
          </a:p>
        </p:txBody>
      </p:sp>
      <p:sp>
        <p:nvSpPr>
          <p:cNvPr id="6"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 presetClass="mediacall" presetSubtype="0" fill="hold" nodeType="withEffect">
                                  <p:stCondLst>
                                    <p:cond delay="1000"/>
                                  </p:stCondLst>
                                  <p:childTnLst>
                                    <p:cmd type="call" cmd="playFrom(0.0)">
                                      <p:cBhvr>
                                        <p:cTn id="15" dur="25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6" fill="hold" display="0">
                  <p:stCondLst>
                    <p:cond delay="indefinite"/>
                  </p:stCondLst>
                </p:cTn>
                <p:tgtEl>
                  <p:spTgt spid="4"/>
                </p:tgtEl>
              </p:cMediaNode>
            </p:video>
          </p:childTnLst>
        </p:cTn>
      </p:par>
    </p:tnLst>
  </p:timing>
</p:sld>
</file>

<file path=ppt/theme/theme1.xml><?xml version="1.0" encoding="utf-8"?>
<a:theme xmlns:a="http://schemas.openxmlformats.org/drawingml/2006/main" name="TeamPulse">
  <a:themeElements>
    <a:clrScheme name="TeamPulse">
      <a:dk1>
        <a:srgbClr val="1F2328"/>
      </a:dk1>
      <a:lt1>
        <a:srgbClr val="FFFFFF"/>
      </a:lt1>
      <a:dk2>
        <a:srgbClr val="5B4FCF"/>
      </a:dk2>
      <a:lt2>
        <a:srgbClr val="FAF9F7"/>
      </a:lt2>
      <a:accent1>
        <a:srgbClr val="5B4FCF"/>
      </a:accent1>
      <a:accent2>
        <a:srgbClr val="D9922B"/>
      </a:accent2>
      <a:accent3>
        <a:srgbClr val="1F8A5B"/>
      </a:accent3>
      <a:accent4>
        <a:srgbClr val="6B7280"/>
      </a:accent4>
      <a:accent5>
        <a:srgbClr val="EEEDFB"/>
      </a:accent5>
      <a:accent6>
        <a:srgbClr val="FBF1DF"/>
      </a:accent6>
      <a:hlink>
        <a:srgbClr val="5B4FCF"/>
      </a:hlink>
      <a:folHlink>
        <a:srgbClr val="6B7280"/>
      </a:folHlink>
    </a:clrScheme>
    <a:fontScheme name="TeamPul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TeamPulse AI</dc:title>
  <dc:subject>PptxGenJS Presentation</dc:subject>
  <dc:creator>PptxGenJS</dc:creator>
  <cp:lastModifiedBy>PptxGenJS</cp:lastModifiedBy>
  <cp:revision>1</cp:revision>
  <dcterms:created xsi:type="dcterms:W3CDTF">2026-10-22T07:07:03Z</dcterms:created>
  <dcterms:modified xsi:type="dcterms:W3CDTF">2026-10-22T07:07:03Z</dcterms:modified>
</cp:coreProperties>
</file>